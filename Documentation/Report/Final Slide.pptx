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2" r:id="rId8"/>
    <p:sldId id="270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8" r:id="rId17"/>
    <p:sldId id="287" r:id="rId18"/>
    <p:sldId id="289" r:id="rId19"/>
    <p:sldId id="269" r:id="rId20"/>
  </p:sldIdLst>
  <p:sldSz cx="18288000" cy="10287000"/>
  <p:notesSz cx="6858000" cy="9144000"/>
  <p:embeddedFontLst>
    <p:embeddedFont>
      <p:font typeface="Fredoka" panose="02000000000000000000"/>
      <p:regular r:id="rId24"/>
    </p:embeddedFont>
    <p:embeddedFont>
      <p:font typeface="Nunito Bold" panose="00000800000000000000"/>
      <p:bold r:id="rId25"/>
    </p:embeddedFont>
    <p:embeddedFont>
      <p:font typeface="Canva Sans Bold" panose="020B0803030501040103"/>
      <p:bold r:id="rId26"/>
    </p:embeddedFont>
    <p:embeddedFont>
      <p:font typeface="Nunito" panose="00000500000000000000"/>
      <p:regular r:id="rId27"/>
    </p:embeddedFont>
    <p:embeddedFont>
      <p:font typeface="Red Hat Display Bold" panose="02010803040201060303"/>
      <p:bold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  <p:embeddedFont>
      <p:font typeface="Calibri" panose="020F0502020204030204"/>
      <p:regular r:id="rId33"/>
      <p:bold r:id="rId34"/>
      <p:italic r:id="rId35"/>
      <p:boldItalic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28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22"/>
        <p:guide pos="286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font" Target="fonts/font13.fntdata"/><Relationship Id="rId35" Type="http://schemas.openxmlformats.org/officeDocument/2006/relationships/font" Target="fonts/font12.fntdata"/><Relationship Id="rId34" Type="http://schemas.openxmlformats.org/officeDocument/2006/relationships/font" Target="fonts/font11.fntdata"/><Relationship Id="rId33" Type="http://schemas.openxmlformats.org/officeDocument/2006/relationships/font" Target="fonts/font10.fntdata"/><Relationship Id="rId32" Type="http://schemas.openxmlformats.org/officeDocument/2006/relationships/font" Target="fonts/font9.fntdata"/><Relationship Id="rId31" Type="http://schemas.openxmlformats.org/officeDocument/2006/relationships/font" Target="fonts/font8.fntdata"/><Relationship Id="rId30" Type="http://schemas.openxmlformats.org/officeDocument/2006/relationships/font" Target="fonts/font7.fntdata"/><Relationship Id="rId3" Type="http://schemas.openxmlformats.org/officeDocument/2006/relationships/slide" Target="slides/slide1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.xml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86477" y="5916272"/>
            <a:ext cx="3532892" cy="1625130"/>
          </a:xfrm>
          <a:custGeom>
            <a:avLst/>
            <a:gdLst/>
            <a:ahLst/>
            <a:cxnLst/>
            <a:rect l="l" t="t" r="r" b="b"/>
            <a:pathLst>
              <a:path w="3532892" h="1625130">
                <a:moveTo>
                  <a:pt x="0" y="0"/>
                </a:moveTo>
                <a:lnTo>
                  <a:pt x="3532892" y="0"/>
                </a:lnTo>
                <a:lnTo>
                  <a:pt x="3532892" y="1625131"/>
                </a:lnTo>
                <a:lnTo>
                  <a:pt x="0" y="162513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03436" y="1076344"/>
            <a:ext cx="4017541" cy="4114800"/>
          </a:xfrm>
          <a:custGeom>
            <a:avLst/>
            <a:gdLst/>
            <a:ahLst/>
            <a:cxnLst/>
            <a:rect l="l" t="t" r="r" b="b"/>
            <a:pathLst>
              <a:path w="4017541" h="4114800">
                <a:moveTo>
                  <a:pt x="0" y="0"/>
                </a:moveTo>
                <a:lnTo>
                  <a:pt x="4017541" y="0"/>
                </a:lnTo>
                <a:lnTo>
                  <a:pt x="40175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295407" y="715288"/>
            <a:ext cx="2963893" cy="361056"/>
          </a:xfrm>
          <a:custGeom>
            <a:avLst/>
            <a:gdLst/>
            <a:ahLst/>
            <a:cxnLst/>
            <a:rect l="l" t="t" r="r" b="b"/>
            <a:pathLst>
              <a:path w="2963893" h="361056">
                <a:moveTo>
                  <a:pt x="0" y="0"/>
                </a:moveTo>
                <a:lnTo>
                  <a:pt x="2963893" y="0"/>
                </a:lnTo>
                <a:lnTo>
                  <a:pt x="2963893" y="361056"/>
                </a:lnTo>
                <a:lnTo>
                  <a:pt x="0" y="3610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68631" y="2763330"/>
            <a:ext cx="14950738" cy="107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Fredoka" panose="02000000000000000000"/>
                <a:ea typeface="Fredoka" panose="02000000000000000000"/>
                <a:cs typeface="Fredoka" panose="02000000000000000000"/>
                <a:sym typeface="Fredoka" panose="02000000000000000000"/>
              </a:rPr>
              <a:t>SMARTRESELL– YOUR TRUSTED MARKETPLACE FOR SECOND HAND MOBILE PHONES</a:t>
            </a:r>
            <a:endParaRPr lang="en-US" sz="3000">
              <a:solidFill>
                <a:srgbClr val="000000"/>
              </a:solidFill>
              <a:latin typeface="Fredoka" panose="02000000000000000000"/>
              <a:ea typeface="Fredoka" panose="02000000000000000000"/>
              <a:cs typeface="Fredoka" panose="02000000000000000000"/>
              <a:sym typeface="Fredoka" panose="020000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190453" y="6505750"/>
            <a:ext cx="9907094" cy="281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5"/>
              </a:lnSpc>
            </a:pPr>
            <a:r>
              <a:rPr lang="en-US" sz="4000" b="1">
                <a:solidFill>
                  <a:srgbClr val="000000"/>
                </a:solidFill>
                <a:latin typeface="Nunito Bold" panose="00000800000000000000"/>
                <a:ea typeface="Nunito Bold" panose="00000800000000000000"/>
                <a:cs typeface="Nunito Bold" panose="00000800000000000000"/>
                <a:sym typeface="Nunito Bold" panose="00000800000000000000"/>
              </a:rPr>
              <a:t>Presentation by </a:t>
            </a:r>
            <a:endParaRPr lang="en-US" sz="4000" b="1">
              <a:solidFill>
                <a:srgbClr val="000000"/>
              </a:solidFill>
              <a:latin typeface="Nunito Bold" panose="00000800000000000000"/>
              <a:ea typeface="Nunito Bold" panose="00000800000000000000"/>
              <a:cs typeface="Nunito Bold" panose="00000800000000000000"/>
              <a:sym typeface="Nunito Bold" panose="00000800000000000000"/>
            </a:endParaRPr>
          </a:p>
          <a:p>
            <a:pPr algn="ctr">
              <a:lnSpc>
                <a:spcPts val="5605"/>
              </a:lnSpc>
            </a:pPr>
            <a:r>
              <a:rPr lang="en-US" sz="4000" b="1">
                <a:solidFill>
                  <a:srgbClr val="000000"/>
                </a:solidFill>
                <a:latin typeface="Nunito Bold" panose="00000800000000000000"/>
                <a:ea typeface="Nunito Bold" panose="00000800000000000000"/>
                <a:cs typeface="Nunito Bold" panose="00000800000000000000"/>
                <a:sym typeface="Nunito Bold" panose="00000800000000000000"/>
              </a:rPr>
              <a:t>Bhawana KC</a:t>
            </a:r>
            <a:endParaRPr lang="en-US" sz="4000" b="1">
              <a:solidFill>
                <a:srgbClr val="000000"/>
              </a:solidFill>
              <a:latin typeface="Nunito Bold" panose="00000800000000000000"/>
              <a:ea typeface="Nunito Bold" panose="00000800000000000000"/>
              <a:cs typeface="Nunito Bold" panose="00000800000000000000"/>
              <a:sym typeface="Nunito Bold" panose="00000800000000000000"/>
            </a:endParaRPr>
          </a:p>
          <a:p>
            <a:pPr algn="ctr">
              <a:lnSpc>
                <a:spcPts val="5605"/>
              </a:lnSpc>
            </a:pPr>
            <a:r>
              <a:rPr lang="en-US" sz="4000" b="1">
                <a:solidFill>
                  <a:srgbClr val="000000"/>
                </a:solidFill>
                <a:latin typeface="Nunito Bold" panose="00000800000000000000"/>
                <a:ea typeface="Nunito Bold" panose="00000800000000000000"/>
                <a:cs typeface="Nunito Bold" panose="00000800000000000000"/>
                <a:sym typeface="Nunito Bold" panose="00000800000000000000"/>
              </a:rPr>
              <a:t>Kabita Adhikari</a:t>
            </a:r>
            <a:endParaRPr lang="en-US" sz="4000" b="1">
              <a:solidFill>
                <a:srgbClr val="000000"/>
              </a:solidFill>
              <a:latin typeface="Nunito Bold" panose="00000800000000000000"/>
              <a:ea typeface="Nunito Bold" panose="00000800000000000000"/>
              <a:cs typeface="Nunito Bold" panose="00000800000000000000"/>
              <a:sym typeface="Nunito Bold" panose="00000800000000000000"/>
            </a:endParaRPr>
          </a:p>
          <a:p>
            <a:pPr algn="ctr">
              <a:lnSpc>
                <a:spcPts val="5605"/>
              </a:lnSpc>
            </a:pPr>
            <a:r>
              <a:rPr lang="en-US" sz="4000" b="1">
                <a:solidFill>
                  <a:srgbClr val="000000"/>
                </a:solidFill>
                <a:latin typeface="Nunito Bold" panose="00000800000000000000"/>
                <a:ea typeface="Nunito Bold" panose="00000800000000000000"/>
                <a:cs typeface="Nunito Bold" panose="00000800000000000000"/>
                <a:sym typeface="Nunito Bold" panose="00000800000000000000"/>
              </a:rPr>
              <a:t>Prasamsha Tripathi</a:t>
            </a:r>
            <a:endParaRPr lang="en-US" sz="4000" b="1">
              <a:solidFill>
                <a:srgbClr val="000000"/>
              </a:solidFill>
              <a:latin typeface="Nunito Bold" panose="00000800000000000000"/>
              <a:ea typeface="Nunito Bold" panose="00000800000000000000"/>
              <a:cs typeface="Nunito Bold" panose="00000800000000000000"/>
              <a:sym typeface="Nunito Bold" panose="00000800000000000000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028700" y="7952847"/>
            <a:ext cx="2963893" cy="361056"/>
          </a:xfrm>
          <a:custGeom>
            <a:avLst/>
            <a:gdLst/>
            <a:ahLst/>
            <a:cxnLst/>
            <a:rect l="l" t="t" r="r" b="b"/>
            <a:pathLst>
              <a:path w="2963893" h="361056">
                <a:moveTo>
                  <a:pt x="0" y="0"/>
                </a:moveTo>
                <a:lnTo>
                  <a:pt x="2963893" y="0"/>
                </a:lnTo>
                <a:lnTo>
                  <a:pt x="2963893" y="361056"/>
                </a:lnTo>
                <a:lnTo>
                  <a:pt x="0" y="3610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 rot="0">
            <a:off x="0" y="0"/>
            <a:ext cx="18288000" cy="895816"/>
            <a:chOff x="0" y="0"/>
            <a:chExt cx="4816593" cy="23593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235935"/>
            </a:xfrm>
            <a:custGeom>
              <a:avLst/>
              <a:gdLst/>
              <a:ahLst/>
              <a:cxnLst/>
              <a:rect l="l" t="t" r="r" b="b"/>
              <a:pathLst>
                <a:path w="4816592" h="235935">
                  <a:moveTo>
                    <a:pt x="0" y="0"/>
                  </a:moveTo>
                  <a:lnTo>
                    <a:pt x="4816592" y="0"/>
                  </a:lnTo>
                  <a:lnTo>
                    <a:pt x="4816592" y="235935"/>
                  </a:lnTo>
                  <a:lnTo>
                    <a:pt x="0" y="235935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816593" cy="283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4200"/>
                </a:lnSpc>
              </a:pPr>
              <a:r>
                <a:rPr lang="en-US" sz="3000" b="1">
                  <a:solidFill>
                    <a:srgbClr val="000000"/>
                  </a:solidFill>
                  <a:latin typeface="Canva Sans Bold" panose="020B0803030501040103"/>
                  <a:ea typeface="Canva Sans Bold" panose="020B0803030501040103"/>
                  <a:cs typeface="Canva Sans Bold" panose="020B0803030501040103"/>
                  <a:sym typeface="Canva Sans Bold" panose="020B0803030501040103"/>
                </a:rPr>
                <a:t>Gandaki College of Engineering and Science</a:t>
              </a:r>
              <a:endParaRPr lang="en-US" sz="30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5210900" y="200938"/>
            <a:ext cx="2816938" cy="53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Nov, 2025</a:t>
            </a: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86477" y="5916272"/>
            <a:ext cx="3532892" cy="1625130"/>
          </a:xfrm>
          <a:custGeom>
            <a:avLst/>
            <a:gdLst/>
            <a:ahLst/>
            <a:cxnLst/>
            <a:rect l="l" t="t" r="r" b="b"/>
            <a:pathLst>
              <a:path w="3532892" h="1625130">
                <a:moveTo>
                  <a:pt x="0" y="0"/>
                </a:moveTo>
                <a:lnTo>
                  <a:pt x="3532892" y="0"/>
                </a:lnTo>
                <a:lnTo>
                  <a:pt x="3532892" y="1625131"/>
                </a:lnTo>
                <a:lnTo>
                  <a:pt x="0" y="162513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03436" y="1076344"/>
            <a:ext cx="4017541" cy="4114800"/>
          </a:xfrm>
          <a:custGeom>
            <a:avLst/>
            <a:gdLst/>
            <a:ahLst/>
            <a:cxnLst/>
            <a:rect l="l" t="t" r="r" b="b"/>
            <a:pathLst>
              <a:path w="4017541" h="4114800">
                <a:moveTo>
                  <a:pt x="0" y="0"/>
                </a:moveTo>
                <a:lnTo>
                  <a:pt x="4017541" y="0"/>
                </a:lnTo>
                <a:lnTo>
                  <a:pt x="40175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295407" y="715288"/>
            <a:ext cx="2963893" cy="361056"/>
          </a:xfrm>
          <a:custGeom>
            <a:avLst/>
            <a:gdLst/>
            <a:ahLst/>
            <a:cxnLst/>
            <a:rect l="l" t="t" r="r" b="b"/>
            <a:pathLst>
              <a:path w="2963893" h="361056">
                <a:moveTo>
                  <a:pt x="0" y="0"/>
                </a:moveTo>
                <a:lnTo>
                  <a:pt x="2963893" y="0"/>
                </a:lnTo>
                <a:lnTo>
                  <a:pt x="2963893" y="361056"/>
                </a:lnTo>
                <a:lnTo>
                  <a:pt x="0" y="3610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30567" y="8538483"/>
            <a:ext cx="2963893" cy="361056"/>
          </a:xfrm>
          <a:custGeom>
            <a:avLst/>
            <a:gdLst/>
            <a:ahLst/>
            <a:cxnLst/>
            <a:rect l="l" t="t" r="r" b="b"/>
            <a:pathLst>
              <a:path w="2963893" h="361056">
                <a:moveTo>
                  <a:pt x="0" y="0"/>
                </a:moveTo>
                <a:lnTo>
                  <a:pt x="2963893" y="0"/>
                </a:lnTo>
                <a:lnTo>
                  <a:pt x="2963893" y="361056"/>
                </a:lnTo>
                <a:lnTo>
                  <a:pt x="0" y="3610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326228" y="2099661"/>
            <a:ext cx="5579418" cy="126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60"/>
              </a:lnSpc>
            </a:pPr>
            <a:r>
              <a:rPr lang="en-US" sz="7400" b="1">
                <a:solidFill>
                  <a:srgbClr val="473D34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OVERVIEW</a:t>
            </a:r>
            <a:endParaRPr lang="en-US" sz="7400" b="1">
              <a:solidFill>
                <a:srgbClr val="473D34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924092" y="4633912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7439063" y="4643438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924092" y="5811476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7435644" y="5751194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924092" y="6888753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7432225" y="6813505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1828842" y="7932693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7439063" y="7918405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924092" y="4113574"/>
            <a:ext cx="37407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473D34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Introduction</a:t>
            </a:r>
            <a:endParaRPr lang="en-US" sz="2500" b="1">
              <a:solidFill>
                <a:srgbClr val="473D34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584565" y="5162528"/>
            <a:ext cx="3740736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473D34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Use Case Diagram</a:t>
            </a:r>
            <a:endParaRPr lang="en-US" sz="2500" b="1">
              <a:solidFill>
                <a:srgbClr val="473D34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924092" y="5349853"/>
            <a:ext cx="37407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473D34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 Problem Statement</a:t>
            </a:r>
            <a:endParaRPr lang="en-US" sz="2500" b="1">
              <a:solidFill>
                <a:srgbClr val="473D34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435850" y="5309870"/>
            <a:ext cx="4114165" cy="448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473D34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Exploratory Data Analysis</a:t>
            </a:r>
            <a:endParaRPr lang="en-US" sz="2500" b="1">
              <a:solidFill>
                <a:srgbClr val="473D34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944472" y="4203383"/>
            <a:ext cx="65435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73D34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01</a:t>
            </a:r>
            <a:endParaRPr lang="en-US" sz="1800" b="1">
              <a:solidFill>
                <a:srgbClr val="473D34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429989" y="4381862"/>
            <a:ext cx="65435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73D34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05</a:t>
            </a:r>
            <a:endParaRPr lang="en-US" sz="1800" b="1">
              <a:solidFill>
                <a:srgbClr val="473D34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5944472" y="5454015"/>
            <a:ext cx="65435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73D34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02</a:t>
            </a:r>
            <a:endParaRPr lang="en-US" sz="1800" b="1">
              <a:solidFill>
                <a:srgbClr val="473D34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452605" y="5319712"/>
            <a:ext cx="65435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73D34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06</a:t>
            </a:r>
            <a:endParaRPr lang="en-US" sz="1800" b="1">
              <a:solidFill>
                <a:srgbClr val="473D34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924092" y="6372498"/>
            <a:ext cx="37407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473D34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 Objectives</a:t>
            </a:r>
            <a:endParaRPr lang="en-US" sz="2500" b="1">
              <a:solidFill>
                <a:srgbClr val="473D34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439063" y="6372498"/>
            <a:ext cx="3740736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473D34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Algorithm Used</a:t>
            </a:r>
            <a:endParaRPr lang="en-US" sz="2500" b="1">
              <a:solidFill>
                <a:srgbClr val="473D34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944472" y="6382023"/>
            <a:ext cx="65435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73D34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03</a:t>
            </a:r>
            <a:endParaRPr lang="en-US" sz="1800" b="1">
              <a:solidFill>
                <a:srgbClr val="473D34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1452605" y="6382023"/>
            <a:ext cx="654356" cy="32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73D34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09</a:t>
            </a:r>
            <a:endParaRPr lang="en-US" sz="1800" b="1">
              <a:solidFill>
                <a:srgbClr val="473D34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924092" y="7431678"/>
            <a:ext cx="3740736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473D34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Required Tools</a:t>
            </a:r>
            <a:endParaRPr lang="en-US" sz="2500" b="1">
              <a:solidFill>
                <a:srgbClr val="473D34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7439063" y="7431678"/>
            <a:ext cx="3740736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473D34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Evaluation Matrix</a:t>
            </a:r>
            <a:endParaRPr lang="en-US" sz="2500" b="1">
              <a:solidFill>
                <a:srgbClr val="473D34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5944472" y="7494226"/>
            <a:ext cx="65435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73D34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04</a:t>
            </a:r>
            <a:endParaRPr lang="en-US" sz="1800" b="1">
              <a:solidFill>
                <a:srgbClr val="473D34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1452605" y="7383101"/>
            <a:ext cx="654356" cy="32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73D34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10</a:t>
            </a:r>
            <a:endParaRPr lang="en-US" sz="1800" b="1">
              <a:solidFill>
                <a:srgbClr val="473D34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12584565" y="5697197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AutoShape 32"/>
          <p:cNvSpPr/>
          <p:nvPr/>
        </p:nvSpPr>
        <p:spPr>
          <a:xfrm>
            <a:off x="12515556" y="6823030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TextBox 33"/>
          <p:cNvSpPr txBox="1"/>
          <p:nvPr/>
        </p:nvSpPr>
        <p:spPr>
          <a:xfrm>
            <a:off x="7467638" y="4131628"/>
            <a:ext cx="3740736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473D34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Data Description</a:t>
            </a:r>
            <a:endParaRPr lang="en-US" sz="2500" b="1">
              <a:solidFill>
                <a:srgbClr val="473D34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6535935" y="5225076"/>
            <a:ext cx="654356" cy="32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73D34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12</a:t>
            </a:r>
            <a:endParaRPr lang="en-US" sz="1800" b="1">
              <a:solidFill>
                <a:srgbClr val="473D34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2584565" y="6266453"/>
            <a:ext cx="3740736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473D34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ER Diagram</a:t>
            </a:r>
            <a:endParaRPr lang="en-US" sz="2500" b="1">
              <a:solidFill>
                <a:srgbClr val="473D34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6536035" y="6362700"/>
            <a:ext cx="654050" cy="4298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73D34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13</a:t>
            </a:r>
            <a:endParaRPr lang="en-US" sz="1800" b="1">
              <a:solidFill>
                <a:srgbClr val="473D34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12478092" y="4633912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TextBox 38"/>
          <p:cNvSpPr txBox="1"/>
          <p:nvPr/>
        </p:nvSpPr>
        <p:spPr>
          <a:xfrm>
            <a:off x="12515556" y="4060552"/>
            <a:ext cx="4310094" cy="89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473D34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Equation Optain</a:t>
            </a:r>
            <a:endParaRPr lang="en-US" sz="2500" b="1">
              <a:solidFill>
                <a:srgbClr val="473D34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  <a:p>
            <a:pPr algn="l">
              <a:lnSpc>
                <a:spcPts val="3500"/>
              </a:lnSpc>
            </a:pPr>
          </a:p>
        </p:txBody>
      </p:sp>
      <p:sp>
        <p:nvSpPr>
          <p:cNvPr id="39" name="TextBox 39"/>
          <p:cNvSpPr txBox="1"/>
          <p:nvPr/>
        </p:nvSpPr>
        <p:spPr>
          <a:xfrm>
            <a:off x="16498471" y="4131628"/>
            <a:ext cx="654356" cy="32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73D34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11</a:t>
            </a:r>
            <a:endParaRPr lang="en-US" sz="1800" b="1">
              <a:solidFill>
                <a:srgbClr val="473D34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  <p:sp>
        <p:nvSpPr>
          <p:cNvPr id="40" name="AutoShape 13"/>
          <p:cNvSpPr/>
          <p:nvPr/>
        </p:nvSpPr>
        <p:spPr>
          <a:xfrm>
            <a:off x="12584472" y="7910468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" name="AutoShape 13"/>
          <p:cNvSpPr/>
          <p:nvPr/>
        </p:nvSpPr>
        <p:spPr>
          <a:xfrm>
            <a:off x="1752642" y="8694693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" name="TextBox 33"/>
          <p:cNvSpPr txBox="1"/>
          <p:nvPr/>
        </p:nvSpPr>
        <p:spPr>
          <a:xfrm>
            <a:off x="12584468" y="7469823"/>
            <a:ext cx="3740736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473D34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Conclusion</a:t>
            </a:r>
            <a:endParaRPr lang="en-US" sz="2500" b="1">
              <a:solidFill>
                <a:srgbClr val="473D34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  <p:sp>
        <p:nvSpPr>
          <p:cNvPr id="44" name="TextBox 33"/>
          <p:cNvSpPr txBox="1"/>
          <p:nvPr/>
        </p:nvSpPr>
        <p:spPr>
          <a:xfrm>
            <a:off x="1779943" y="8191183"/>
            <a:ext cx="3740736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473D34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Future Work</a:t>
            </a:r>
            <a:endParaRPr lang="en-US" sz="2500" b="1">
              <a:solidFill>
                <a:srgbClr val="473D34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  <p:sp>
        <p:nvSpPr>
          <p:cNvPr id="46" name="TextBox 19"/>
          <p:cNvSpPr txBox="1"/>
          <p:nvPr/>
        </p:nvSpPr>
        <p:spPr>
          <a:xfrm>
            <a:off x="5867400" y="8191500"/>
            <a:ext cx="821690" cy="35941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73D34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15</a:t>
            </a:r>
            <a:endParaRPr lang="en-US" sz="1800" b="1">
              <a:solidFill>
                <a:srgbClr val="473D34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  <p:sp>
        <p:nvSpPr>
          <p:cNvPr id="47" name="TextBox 19"/>
          <p:cNvSpPr txBox="1"/>
          <p:nvPr/>
        </p:nvSpPr>
        <p:spPr>
          <a:xfrm>
            <a:off x="16619220" y="7581900"/>
            <a:ext cx="654050" cy="105727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73D34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14</a:t>
            </a:r>
            <a:endParaRPr lang="en-US" sz="1800" b="1">
              <a:solidFill>
                <a:srgbClr val="473D34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919996"/>
            <a:ext cx="16230600" cy="6310756"/>
            <a:chOff x="0" y="0"/>
            <a:chExt cx="4274726" cy="16620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662092"/>
            </a:xfrm>
            <a:custGeom>
              <a:avLst/>
              <a:gdLst/>
              <a:ahLst/>
              <a:cxnLst/>
              <a:rect l="l" t="t" r="r" b="b"/>
              <a:pathLst>
                <a:path w="4274726" h="1662092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637765"/>
                  </a:lnTo>
                  <a:cubicBezTo>
                    <a:pt x="4274726" y="1644217"/>
                    <a:pt x="4272163" y="1650405"/>
                    <a:pt x="4267601" y="1654967"/>
                  </a:cubicBezTo>
                  <a:cubicBezTo>
                    <a:pt x="4263039" y="1659529"/>
                    <a:pt x="4256851" y="1662092"/>
                    <a:pt x="4250399" y="1662092"/>
                  </a:cubicBezTo>
                  <a:lnTo>
                    <a:pt x="24327" y="1662092"/>
                  </a:lnTo>
                  <a:cubicBezTo>
                    <a:pt x="10891" y="1662092"/>
                    <a:pt x="0" y="1651201"/>
                    <a:pt x="0" y="1637765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170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-455841" y="9258300"/>
            <a:ext cx="20004189" cy="1104251"/>
            <a:chOff x="0" y="0"/>
            <a:chExt cx="5268593" cy="2908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8593" cy="290832"/>
            </a:xfrm>
            <a:custGeom>
              <a:avLst/>
              <a:gdLst/>
              <a:ahLst/>
              <a:cxnLst/>
              <a:rect l="l" t="t" r="r" b="b"/>
              <a:pathLst>
                <a:path w="5268593" h="290832">
                  <a:moveTo>
                    <a:pt x="0" y="0"/>
                  </a:moveTo>
                  <a:lnTo>
                    <a:pt x="5268593" y="0"/>
                  </a:lnTo>
                  <a:lnTo>
                    <a:pt x="5268593" y="290832"/>
                  </a:lnTo>
                  <a:lnTo>
                    <a:pt x="0" y="290832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268593" cy="328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477763" y="9524676"/>
            <a:ext cx="557789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Page 1</a:t>
            </a: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2970306" y="619030"/>
            <a:ext cx="12347388" cy="1996075"/>
            <a:chOff x="0" y="0"/>
            <a:chExt cx="3251987" cy="525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51987" cy="525715"/>
            </a:xfrm>
            <a:custGeom>
              <a:avLst/>
              <a:gdLst/>
              <a:ahLst/>
              <a:cxnLst/>
              <a:rect l="l" t="t" r="r" b="b"/>
              <a:pathLst>
                <a:path w="3251987" h="525715">
                  <a:moveTo>
                    <a:pt x="31977" y="0"/>
                  </a:moveTo>
                  <a:lnTo>
                    <a:pt x="3220009" y="0"/>
                  </a:lnTo>
                  <a:cubicBezTo>
                    <a:pt x="3228490" y="0"/>
                    <a:pt x="3236624" y="3369"/>
                    <a:pt x="3242621" y="9366"/>
                  </a:cubicBezTo>
                  <a:cubicBezTo>
                    <a:pt x="3248618" y="15363"/>
                    <a:pt x="3251987" y="23496"/>
                    <a:pt x="3251987" y="31977"/>
                  </a:cubicBezTo>
                  <a:lnTo>
                    <a:pt x="3251987" y="493738"/>
                  </a:lnTo>
                  <a:cubicBezTo>
                    <a:pt x="3251987" y="502219"/>
                    <a:pt x="3248618" y="510352"/>
                    <a:pt x="3242621" y="516349"/>
                  </a:cubicBezTo>
                  <a:cubicBezTo>
                    <a:pt x="3236624" y="522346"/>
                    <a:pt x="3228490" y="525715"/>
                    <a:pt x="3220009" y="525715"/>
                  </a:cubicBezTo>
                  <a:lnTo>
                    <a:pt x="31977" y="525715"/>
                  </a:lnTo>
                  <a:cubicBezTo>
                    <a:pt x="23496" y="525715"/>
                    <a:pt x="15363" y="522346"/>
                    <a:pt x="9366" y="516349"/>
                  </a:cubicBezTo>
                  <a:cubicBezTo>
                    <a:pt x="3369" y="510352"/>
                    <a:pt x="0" y="502219"/>
                    <a:pt x="0" y="493738"/>
                  </a:cubicBezTo>
                  <a:lnTo>
                    <a:pt x="0" y="31977"/>
                  </a:lnTo>
                  <a:cubicBezTo>
                    <a:pt x="0" y="23496"/>
                    <a:pt x="3369" y="15363"/>
                    <a:pt x="9366" y="9366"/>
                  </a:cubicBezTo>
                  <a:cubicBezTo>
                    <a:pt x="15363" y="3369"/>
                    <a:pt x="23496" y="0"/>
                    <a:pt x="31977" y="0"/>
                  </a:cubicBez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251987" cy="563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006600" y="2922905"/>
            <a:ext cx="14039850" cy="508063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altLang="en-US" sz="3200"/>
              <a:t>SmartResell is a web platform for buying and selling second-hand iPhones.</a:t>
            </a:r>
            <a:endParaRPr lang="en-US" altLang="en-US" sz="3200"/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altLang="en-US" sz="3200"/>
              <a:t>It provides easy listing and price prediction.</a:t>
            </a:r>
            <a:endParaRPr lang="en-US" altLang="en-US" sz="3200"/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endParaRPr lang="en-US" altLang="en-US" sz="3200"/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endParaRPr lang="en-US" altLang="en-US" sz="3200"/>
          </a:p>
          <a:p>
            <a:pPr marL="323850" lvl="1" indent="0" algn="l">
              <a:lnSpc>
                <a:spcPts val="4200"/>
              </a:lnSpc>
              <a:buFont typeface="Arial" panose="020B0604020202020204"/>
              <a:buNone/>
            </a:pPr>
            <a:endParaRPr sz="3200"/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 panose="02020603050405020304" charset="0"/>
                <a:ea typeface="Nunito" panose="00000500000000000000"/>
                <a:cs typeface="Times New Roman" panose="02020603050405020304" charset="0"/>
                <a:sym typeface="Nunito" panose="00000500000000000000"/>
              </a:rPr>
              <a:t>Why we need SmartResell?</a:t>
            </a:r>
            <a:endParaRPr lang="en-US" sz="3200">
              <a:solidFill>
                <a:srgbClr val="000000"/>
              </a:solidFill>
              <a:latin typeface="Times New Roman" panose="02020603050405020304" charset="0"/>
              <a:ea typeface="Nunito" panose="00000500000000000000"/>
              <a:cs typeface="Times New Roman" panose="02020603050405020304" charset="0"/>
              <a:sym typeface="Nunito" panose="00000500000000000000"/>
            </a:endParaRPr>
          </a:p>
          <a:p>
            <a:pPr marL="1295400" lvl="2" indent="-431800" algn="l">
              <a:lnSpc>
                <a:spcPts val="4200"/>
              </a:lnSpc>
              <a:buFont typeface="Arial" panose="020B0604020202020204"/>
              <a:buChar char="⚬"/>
            </a:pPr>
            <a:r>
              <a:rPr lang="en-US" altLang="en-US" sz="3200">
                <a:latin typeface="Times New Roman" panose="02020603050405020304" charset="0"/>
                <a:cs typeface="Times New Roman" panose="02020603050405020304" charset="0"/>
              </a:rPr>
              <a:t>Ensures fair pricing and reliable marketplace.</a:t>
            </a: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pPr marL="1295400" lvl="2" indent="-431800" algn="l">
              <a:lnSpc>
                <a:spcPts val="4200"/>
              </a:lnSpc>
              <a:buFont typeface="Arial" panose="020B0604020202020204"/>
              <a:buChar char="⚬"/>
            </a:pPr>
            <a:r>
              <a:rPr lang="en-US" altLang="en-US" sz="3200">
                <a:latin typeface="Times New Roman" panose="02020603050405020304" charset="0"/>
                <a:cs typeface="Times New Roman" panose="02020603050405020304" charset="0"/>
              </a:rPr>
              <a:t>Efficient management of mobile listings.</a:t>
            </a: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ts val="4200"/>
              </a:lnSpc>
            </a:pPr>
            <a:endParaRPr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543721" y="904875"/>
            <a:ext cx="9200557" cy="1127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5">
                <a:solidFill>
                  <a:srgbClr val="000000"/>
                </a:solidFill>
                <a:latin typeface="Fredoka" panose="02000000000000000000"/>
                <a:ea typeface="Fredoka" panose="02000000000000000000"/>
                <a:cs typeface="Fredoka" panose="02000000000000000000"/>
                <a:sym typeface="Fredoka" panose="02000000000000000000"/>
              </a:rPr>
              <a:t>INTRODUCTION </a:t>
            </a:r>
            <a:endParaRPr lang="en-US" sz="6605">
              <a:solidFill>
                <a:srgbClr val="000000"/>
              </a:solidFill>
              <a:latin typeface="Fredoka" panose="02000000000000000000"/>
              <a:ea typeface="Fredoka" panose="02000000000000000000"/>
              <a:cs typeface="Fredoka" panose="02000000000000000000"/>
              <a:sym typeface="Fredoka" panose="02000000000000000000"/>
            </a:endParaRPr>
          </a:p>
        </p:txBody>
      </p:sp>
      <p:sp>
        <p:nvSpPr>
          <p:cNvPr id="14" name="Freeform 14"/>
          <p:cNvSpPr/>
          <p:nvPr/>
        </p:nvSpPr>
        <p:spPr>
          <a:xfrm rot="4302480">
            <a:off x="16435990" y="335858"/>
            <a:ext cx="2722598" cy="2788509"/>
          </a:xfrm>
          <a:custGeom>
            <a:avLst/>
            <a:gdLst/>
            <a:ahLst/>
            <a:cxnLst/>
            <a:rect l="l" t="t" r="r" b="b"/>
            <a:pathLst>
              <a:path w="2722598" h="2788509">
                <a:moveTo>
                  <a:pt x="0" y="0"/>
                </a:moveTo>
                <a:lnTo>
                  <a:pt x="2722599" y="0"/>
                </a:lnTo>
                <a:lnTo>
                  <a:pt x="2722599" y="2788508"/>
                </a:lnTo>
                <a:lnTo>
                  <a:pt x="0" y="278850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919996"/>
            <a:ext cx="16230600" cy="6310756"/>
            <a:chOff x="0" y="0"/>
            <a:chExt cx="4274726" cy="16620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662092"/>
            </a:xfrm>
            <a:custGeom>
              <a:avLst/>
              <a:gdLst/>
              <a:ahLst/>
              <a:cxnLst/>
              <a:rect l="l" t="t" r="r" b="b"/>
              <a:pathLst>
                <a:path w="4274726" h="1662092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637765"/>
                  </a:lnTo>
                  <a:cubicBezTo>
                    <a:pt x="4274726" y="1644217"/>
                    <a:pt x="4272163" y="1650405"/>
                    <a:pt x="4267601" y="1654967"/>
                  </a:cubicBezTo>
                  <a:cubicBezTo>
                    <a:pt x="4263039" y="1659529"/>
                    <a:pt x="4256851" y="1662092"/>
                    <a:pt x="4250399" y="1662092"/>
                  </a:cubicBezTo>
                  <a:lnTo>
                    <a:pt x="24327" y="1662092"/>
                  </a:lnTo>
                  <a:cubicBezTo>
                    <a:pt x="10891" y="1662092"/>
                    <a:pt x="0" y="1651201"/>
                    <a:pt x="0" y="1637765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170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-455841" y="9182749"/>
            <a:ext cx="20004189" cy="1104251"/>
            <a:chOff x="0" y="0"/>
            <a:chExt cx="5268593" cy="2908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8593" cy="290832"/>
            </a:xfrm>
            <a:custGeom>
              <a:avLst/>
              <a:gdLst/>
              <a:ahLst/>
              <a:cxnLst/>
              <a:rect l="l" t="t" r="r" b="b"/>
              <a:pathLst>
                <a:path w="5268593" h="290832">
                  <a:moveTo>
                    <a:pt x="0" y="0"/>
                  </a:moveTo>
                  <a:lnTo>
                    <a:pt x="5268593" y="0"/>
                  </a:lnTo>
                  <a:lnTo>
                    <a:pt x="5268593" y="290832"/>
                  </a:lnTo>
                  <a:lnTo>
                    <a:pt x="0" y="290832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268593" cy="328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355054" y="9430901"/>
            <a:ext cx="557789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Page 2</a:t>
            </a: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2970306" y="619030"/>
            <a:ext cx="12347388" cy="1996075"/>
            <a:chOff x="0" y="0"/>
            <a:chExt cx="3251987" cy="525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51987" cy="525715"/>
            </a:xfrm>
            <a:custGeom>
              <a:avLst/>
              <a:gdLst/>
              <a:ahLst/>
              <a:cxnLst/>
              <a:rect l="l" t="t" r="r" b="b"/>
              <a:pathLst>
                <a:path w="3251987" h="525715">
                  <a:moveTo>
                    <a:pt x="31977" y="0"/>
                  </a:moveTo>
                  <a:lnTo>
                    <a:pt x="3220009" y="0"/>
                  </a:lnTo>
                  <a:cubicBezTo>
                    <a:pt x="3228490" y="0"/>
                    <a:pt x="3236624" y="3369"/>
                    <a:pt x="3242621" y="9366"/>
                  </a:cubicBezTo>
                  <a:cubicBezTo>
                    <a:pt x="3248618" y="15363"/>
                    <a:pt x="3251987" y="23496"/>
                    <a:pt x="3251987" y="31977"/>
                  </a:cubicBezTo>
                  <a:lnTo>
                    <a:pt x="3251987" y="493738"/>
                  </a:lnTo>
                  <a:cubicBezTo>
                    <a:pt x="3251987" y="502219"/>
                    <a:pt x="3248618" y="510352"/>
                    <a:pt x="3242621" y="516349"/>
                  </a:cubicBezTo>
                  <a:cubicBezTo>
                    <a:pt x="3236624" y="522346"/>
                    <a:pt x="3228490" y="525715"/>
                    <a:pt x="3220009" y="525715"/>
                  </a:cubicBezTo>
                  <a:lnTo>
                    <a:pt x="31977" y="525715"/>
                  </a:lnTo>
                  <a:cubicBezTo>
                    <a:pt x="23496" y="525715"/>
                    <a:pt x="15363" y="522346"/>
                    <a:pt x="9366" y="516349"/>
                  </a:cubicBezTo>
                  <a:cubicBezTo>
                    <a:pt x="3369" y="510352"/>
                    <a:pt x="0" y="502219"/>
                    <a:pt x="0" y="493738"/>
                  </a:cubicBezTo>
                  <a:lnTo>
                    <a:pt x="0" y="31977"/>
                  </a:lnTo>
                  <a:cubicBezTo>
                    <a:pt x="0" y="23496"/>
                    <a:pt x="3369" y="15363"/>
                    <a:pt x="9366" y="9366"/>
                  </a:cubicBezTo>
                  <a:cubicBezTo>
                    <a:pt x="15363" y="3369"/>
                    <a:pt x="23496" y="0"/>
                    <a:pt x="31977" y="0"/>
                  </a:cubicBez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251987" cy="563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124126" y="3232827"/>
            <a:ext cx="14039749" cy="323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 panose="02020603050405020304" charset="0"/>
                <a:ea typeface="Nunito" panose="00000500000000000000"/>
                <a:cs typeface="Times New Roman" panose="02020603050405020304" charset="0"/>
                <a:sym typeface="Nunito" panose="00000500000000000000"/>
              </a:rPr>
              <a:t>Problems in Current Mobile Marketplaces:</a:t>
            </a:r>
            <a:endParaRPr lang="en-US" sz="3200">
              <a:solidFill>
                <a:srgbClr val="000000"/>
              </a:solidFill>
              <a:latin typeface="Times New Roman" panose="02020603050405020304" charset="0"/>
              <a:ea typeface="Nunito" panose="00000500000000000000"/>
              <a:cs typeface="Times New Roman" panose="02020603050405020304" charset="0"/>
              <a:sym typeface="Nunito" panose="00000500000000000000"/>
            </a:endParaRPr>
          </a:p>
          <a:p>
            <a:pPr algn="l">
              <a:lnSpc>
                <a:spcPts val="4200"/>
              </a:lnSpc>
            </a:pPr>
            <a:endParaRPr sz="3200">
              <a:latin typeface="Times New Roman" panose="02020603050405020304" charset="0"/>
              <a:cs typeface="Times New Roman" panose="02020603050405020304" charset="0"/>
            </a:endParaRPr>
          </a:p>
          <a:p>
            <a:pPr marL="1295400" lvl="2" indent="-431800" algn="l">
              <a:lnSpc>
                <a:spcPts val="4200"/>
              </a:lnSpc>
              <a:buFont typeface="Arial" panose="020B0604020202020204"/>
              <a:buChar char="⚬"/>
            </a:pPr>
            <a:r>
              <a:rPr lang="en-US" altLang="en-US" sz="3200">
                <a:latin typeface="Times New Roman" panose="02020603050405020304" charset="0"/>
                <a:cs typeface="Times New Roman" panose="02020603050405020304" charset="0"/>
              </a:rPr>
              <a:t>Unfair pricing: Sellers often set prices too high or too low due to lack of data-driven tools.</a:t>
            </a: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pPr marL="1295400" lvl="2" indent="-431800" algn="l">
              <a:lnSpc>
                <a:spcPts val="4200"/>
              </a:lnSpc>
              <a:buFont typeface="Arial" panose="020B0604020202020204"/>
              <a:buChar char="⚬"/>
            </a:pPr>
            <a:r>
              <a:rPr lang="en-US" altLang="en-US" sz="3200">
                <a:latin typeface="Times New Roman" panose="02020603050405020304" charset="0"/>
                <a:cs typeface="Times New Roman" panose="02020603050405020304" charset="0"/>
              </a:rPr>
              <a:t>Inefficient communication: Buyer-seller interactions are slow and unclear.</a:t>
            </a: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ts val="4200"/>
              </a:lnSpc>
            </a:pPr>
            <a:endParaRPr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543721" y="904875"/>
            <a:ext cx="9977715" cy="1127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5">
                <a:solidFill>
                  <a:srgbClr val="000000"/>
                </a:solidFill>
                <a:latin typeface="Fredoka" panose="02000000000000000000"/>
                <a:ea typeface="Fredoka" panose="02000000000000000000"/>
                <a:cs typeface="Fredoka" panose="02000000000000000000"/>
                <a:sym typeface="Fredoka" panose="02000000000000000000"/>
              </a:rPr>
              <a:t>PROBLEM STATEMENT</a:t>
            </a:r>
            <a:endParaRPr lang="en-US" sz="6605">
              <a:solidFill>
                <a:srgbClr val="000000"/>
              </a:solidFill>
              <a:latin typeface="Fredoka" panose="02000000000000000000"/>
              <a:ea typeface="Fredoka" panose="02000000000000000000"/>
              <a:cs typeface="Fredoka" panose="02000000000000000000"/>
              <a:sym typeface="Fredoka" panose="02000000000000000000"/>
            </a:endParaRPr>
          </a:p>
        </p:txBody>
      </p:sp>
      <p:sp>
        <p:nvSpPr>
          <p:cNvPr id="14" name="Freeform 14"/>
          <p:cNvSpPr/>
          <p:nvPr/>
        </p:nvSpPr>
        <p:spPr>
          <a:xfrm rot="4302480">
            <a:off x="16435990" y="335858"/>
            <a:ext cx="2722598" cy="2788509"/>
          </a:xfrm>
          <a:custGeom>
            <a:avLst/>
            <a:gdLst/>
            <a:ahLst/>
            <a:cxnLst/>
            <a:rect l="l" t="t" r="r" b="b"/>
            <a:pathLst>
              <a:path w="2722598" h="2788509">
                <a:moveTo>
                  <a:pt x="0" y="0"/>
                </a:moveTo>
                <a:lnTo>
                  <a:pt x="2722599" y="0"/>
                </a:lnTo>
                <a:lnTo>
                  <a:pt x="2722599" y="2788508"/>
                </a:lnTo>
                <a:lnTo>
                  <a:pt x="0" y="278850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36780" y="8011632"/>
            <a:ext cx="3266712" cy="397945"/>
          </a:xfrm>
          <a:custGeom>
            <a:avLst/>
            <a:gdLst/>
            <a:ahLst/>
            <a:cxnLst/>
            <a:rect l="l" t="t" r="r" b="b"/>
            <a:pathLst>
              <a:path w="3266712" h="397945">
                <a:moveTo>
                  <a:pt x="0" y="0"/>
                </a:moveTo>
                <a:lnTo>
                  <a:pt x="3266712" y="0"/>
                </a:lnTo>
                <a:lnTo>
                  <a:pt x="3266712" y="397945"/>
                </a:lnTo>
                <a:lnTo>
                  <a:pt x="0" y="397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919996"/>
            <a:ext cx="16230600" cy="5758262"/>
            <a:chOff x="0" y="0"/>
            <a:chExt cx="4274726" cy="15165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516579"/>
            </a:xfrm>
            <a:custGeom>
              <a:avLst/>
              <a:gdLst/>
              <a:ahLst/>
              <a:cxnLst/>
              <a:rect l="l" t="t" r="r" b="b"/>
              <a:pathLst>
                <a:path w="4274726" h="1516579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492252"/>
                  </a:lnTo>
                  <a:cubicBezTo>
                    <a:pt x="4274726" y="1505688"/>
                    <a:pt x="4263834" y="1516579"/>
                    <a:pt x="4250399" y="1516579"/>
                  </a:cubicBezTo>
                  <a:lnTo>
                    <a:pt x="24327" y="1516579"/>
                  </a:lnTo>
                  <a:cubicBezTo>
                    <a:pt x="10891" y="1516579"/>
                    <a:pt x="0" y="1505688"/>
                    <a:pt x="0" y="1492252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15546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-219965" y="9085852"/>
            <a:ext cx="20004189" cy="1104251"/>
            <a:chOff x="0" y="0"/>
            <a:chExt cx="5268593" cy="2908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8593" cy="290832"/>
            </a:xfrm>
            <a:custGeom>
              <a:avLst/>
              <a:gdLst/>
              <a:ahLst/>
              <a:cxnLst/>
              <a:rect l="l" t="t" r="r" b="b"/>
              <a:pathLst>
                <a:path w="5268593" h="290832">
                  <a:moveTo>
                    <a:pt x="0" y="0"/>
                  </a:moveTo>
                  <a:lnTo>
                    <a:pt x="5268593" y="0"/>
                  </a:lnTo>
                  <a:lnTo>
                    <a:pt x="5268593" y="290832"/>
                  </a:lnTo>
                  <a:lnTo>
                    <a:pt x="0" y="290832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268593" cy="328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355054" y="9352228"/>
            <a:ext cx="557789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Page 3</a:t>
            </a: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2970306" y="619030"/>
            <a:ext cx="12347388" cy="1996075"/>
            <a:chOff x="0" y="0"/>
            <a:chExt cx="3251987" cy="525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51987" cy="525715"/>
            </a:xfrm>
            <a:custGeom>
              <a:avLst/>
              <a:gdLst/>
              <a:ahLst/>
              <a:cxnLst/>
              <a:rect l="l" t="t" r="r" b="b"/>
              <a:pathLst>
                <a:path w="3251987" h="525715">
                  <a:moveTo>
                    <a:pt x="31977" y="0"/>
                  </a:moveTo>
                  <a:lnTo>
                    <a:pt x="3220009" y="0"/>
                  </a:lnTo>
                  <a:cubicBezTo>
                    <a:pt x="3228490" y="0"/>
                    <a:pt x="3236624" y="3369"/>
                    <a:pt x="3242621" y="9366"/>
                  </a:cubicBezTo>
                  <a:cubicBezTo>
                    <a:pt x="3248618" y="15363"/>
                    <a:pt x="3251987" y="23496"/>
                    <a:pt x="3251987" y="31977"/>
                  </a:cubicBezTo>
                  <a:lnTo>
                    <a:pt x="3251987" y="493738"/>
                  </a:lnTo>
                  <a:cubicBezTo>
                    <a:pt x="3251987" y="502219"/>
                    <a:pt x="3248618" y="510352"/>
                    <a:pt x="3242621" y="516349"/>
                  </a:cubicBezTo>
                  <a:cubicBezTo>
                    <a:pt x="3236624" y="522346"/>
                    <a:pt x="3228490" y="525715"/>
                    <a:pt x="3220009" y="525715"/>
                  </a:cubicBezTo>
                  <a:lnTo>
                    <a:pt x="31977" y="525715"/>
                  </a:lnTo>
                  <a:cubicBezTo>
                    <a:pt x="23496" y="525715"/>
                    <a:pt x="15363" y="522346"/>
                    <a:pt x="9366" y="516349"/>
                  </a:cubicBezTo>
                  <a:cubicBezTo>
                    <a:pt x="3369" y="510352"/>
                    <a:pt x="0" y="502219"/>
                    <a:pt x="0" y="493738"/>
                  </a:cubicBezTo>
                  <a:lnTo>
                    <a:pt x="0" y="31977"/>
                  </a:lnTo>
                  <a:cubicBezTo>
                    <a:pt x="0" y="23496"/>
                    <a:pt x="3369" y="15363"/>
                    <a:pt x="9366" y="9366"/>
                  </a:cubicBezTo>
                  <a:cubicBezTo>
                    <a:pt x="15363" y="3369"/>
                    <a:pt x="23496" y="0"/>
                    <a:pt x="31977" y="0"/>
                  </a:cubicBez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251987" cy="563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858982" y="3180230"/>
            <a:ext cx="15069137" cy="2718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3415" lvl="1" indent="-327025" algn="l">
              <a:lnSpc>
                <a:spcPts val="4240"/>
              </a:lnSpc>
              <a:buFont typeface="Arial" panose="020B0604020202020204"/>
              <a:buChar char="•"/>
            </a:pPr>
            <a:r>
              <a:rPr lang="en-US" altLang="en-US" sz="3025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Develop a web platform for buying and selling second-hand mobile phones.</a:t>
            </a:r>
            <a:endParaRPr lang="en-US" altLang="en-US" sz="3025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marL="653415" lvl="1" indent="-327025" algn="l">
              <a:lnSpc>
                <a:spcPts val="4240"/>
              </a:lnSpc>
              <a:buFont typeface="Arial" panose="020B0604020202020204"/>
              <a:buChar char="•"/>
            </a:pPr>
            <a:endParaRPr lang="en-US" altLang="en-US" sz="3025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marL="653415" lvl="1" indent="-327025" algn="l">
              <a:lnSpc>
                <a:spcPts val="4240"/>
              </a:lnSpc>
              <a:buFont typeface="Arial" panose="020B0604020202020204"/>
              <a:buChar char="•"/>
            </a:pPr>
            <a:r>
              <a:rPr lang="en-US" altLang="en-US" sz="3025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Implement a price prediction system to help sellers set fair prices.</a:t>
            </a:r>
            <a:endParaRPr lang="en-US" altLang="en-US" sz="3025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marL="653415" lvl="1" indent="-327025" algn="l">
              <a:lnSpc>
                <a:spcPts val="4240"/>
              </a:lnSpc>
              <a:buFont typeface="Arial" panose="020B0604020202020204"/>
              <a:buChar char="•"/>
            </a:pPr>
            <a:endParaRPr lang="en-US" altLang="en-US" sz="3025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marL="653415" lvl="1" indent="-327025" algn="l">
              <a:lnSpc>
                <a:spcPts val="4240"/>
              </a:lnSpc>
              <a:buFont typeface="Arial" panose="020B0604020202020204"/>
              <a:buChar char="•"/>
            </a:pPr>
            <a:r>
              <a:rPr lang="en-US" altLang="en-US" sz="3025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Enable buyers to find reasonably priced devices easily.</a:t>
            </a:r>
            <a:endParaRPr lang="en-US" altLang="en-US" sz="3025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543721" y="904875"/>
            <a:ext cx="9200557" cy="1127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5">
                <a:solidFill>
                  <a:srgbClr val="000000"/>
                </a:solidFill>
                <a:latin typeface="Fredoka" panose="02000000000000000000"/>
                <a:ea typeface="Fredoka" panose="02000000000000000000"/>
                <a:cs typeface="Fredoka" panose="02000000000000000000"/>
                <a:sym typeface="Fredoka" panose="02000000000000000000"/>
              </a:rPr>
              <a:t>OBJECTIVE</a:t>
            </a:r>
            <a:endParaRPr lang="en-US" sz="6605">
              <a:solidFill>
                <a:srgbClr val="000000"/>
              </a:solidFill>
              <a:latin typeface="Fredoka" panose="02000000000000000000"/>
              <a:ea typeface="Fredoka" panose="02000000000000000000"/>
              <a:cs typeface="Fredoka" panose="02000000000000000000"/>
              <a:sym typeface="Fredoka" panose="02000000000000000000"/>
            </a:endParaRPr>
          </a:p>
        </p:txBody>
      </p:sp>
      <p:sp>
        <p:nvSpPr>
          <p:cNvPr id="14" name="Freeform 14"/>
          <p:cNvSpPr/>
          <p:nvPr/>
        </p:nvSpPr>
        <p:spPr>
          <a:xfrm rot="4302480">
            <a:off x="16435990" y="335858"/>
            <a:ext cx="2722598" cy="2788509"/>
          </a:xfrm>
          <a:custGeom>
            <a:avLst/>
            <a:gdLst/>
            <a:ahLst/>
            <a:cxnLst/>
            <a:rect l="l" t="t" r="r" b="b"/>
            <a:pathLst>
              <a:path w="2722598" h="2788509">
                <a:moveTo>
                  <a:pt x="0" y="0"/>
                </a:moveTo>
                <a:lnTo>
                  <a:pt x="2722599" y="0"/>
                </a:lnTo>
                <a:lnTo>
                  <a:pt x="2722599" y="2788508"/>
                </a:lnTo>
                <a:lnTo>
                  <a:pt x="0" y="278850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36780" y="8011632"/>
            <a:ext cx="3266712" cy="397945"/>
          </a:xfrm>
          <a:custGeom>
            <a:avLst/>
            <a:gdLst/>
            <a:ahLst/>
            <a:cxnLst/>
            <a:rect l="l" t="t" r="r" b="b"/>
            <a:pathLst>
              <a:path w="3266712" h="397945">
                <a:moveTo>
                  <a:pt x="0" y="0"/>
                </a:moveTo>
                <a:lnTo>
                  <a:pt x="3266712" y="0"/>
                </a:lnTo>
                <a:lnTo>
                  <a:pt x="3266712" y="397945"/>
                </a:lnTo>
                <a:lnTo>
                  <a:pt x="0" y="397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919996"/>
            <a:ext cx="16230600" cy="6820302"/>
            <a:chOff x="0" y="0"/>
            <a:chExt cx="4274726" cy="17962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796294"/>
            </a:xfrm>
            <a:custGeom>
              <a:avLst/>
              <a:gdLst/>
              <a:ahLst/>
              <a:cxnLst/>
              <a:rect l="l" t="t" r="r" b="b"/>
              <a:pathLst>
                <a:path w="4274726" h="1796294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771967"/>
                  </a:lnTo>
                  <a:cubicBezTo>
                    <a:pt x="4274726" y="1778419"/>
                    <a:pt x="4272163" y="1784606"/>
                    <a:pt x="4267601" y="1789169"/>
                  </a:cubicBezTo>
                  <a:cubicBezTo>
                    <a:pt x="4263039" y="1793731"/>
                    <a:pt x="4256851" y="1796294"/>
                    <a:pt x="4250399" y="1796294"/>
                  </a:cubicBezTo>
                  <a:lnTo>
                    <a:pt x="24327" y="1796294"/>
                  </a:lnTo>
                  <a:cubicBezTo>
                    <a:pt x="10891" y="1796294"/>
                    <a:pt x="0" y="1785402"/>
                    <a:pt x="0" y="1771967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18343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-292228" y="9258300"/>
            <a:ext cx="20004189" cy="1104251"/>
            <a:chOff x="0" y="0"/>
            <a:chExt cx="5268593" cy="2908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8593" cy="290832"/>
            </a:xfrm>
            <a:custGeom>
              <a:avLst/>
              <a:gdLst/>
              <a:ahLst/>
              <a:cxnLst/>
              <a:rect l="l" t="t" r="r" b="b"/>
              <a:pathLst>
                <a:path w="5268593" h="290832">
                  <a:moveTo>
                    <a:pt x="0" y="0"/>
                  </a:moveTo>
                  <a:lnTo>
                    <a:pt x="5268593" y="0"/>
                  </a:lnTo>
                  <a:lnTo>
                    <a:pt x="5268593" y="290832"/>
                  </a:lnTo>
                  <a:lnTo>
                    <a:pt x="0" y="290832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268593" cy="328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355054" y="9524676"/>
            <a:ext cx="557789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Page 5</a:t>
            </a: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2970306" y="619030"/>
            <a:ext cx="12347388" cy="1996075"/>
            <a:chOff x="0" y="0"/>
            <a:chExt cx="3251987" cy="525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51987" cy="525715"/>
            </a:xfrm>
            <a:custGeom>
              <a:avLst/>
              <a:gdLst/>
              <a:ahLst/>
              <a:cxnLst/>
              <a:rect l="l" t="t" r="r" b="b"/>
              <a:pathLst>
                <a:path w="3251987" h="525715">
                  <a:moveTo>
                    <a:pt x="31977" y="0"/>
                  </a:moveTo>
                  <a:lnTo>
                    <a:pt x="3220009" y="0"/>
                  </a:lnTo>
                  <a:cubicBezTo>
                    <a:pt x="3228490" y="0"/>
                    <a:pt x="3236624" y="3369"/>
                    <a:pt x="3242621" y="9366"/>
                  </a:cubicBezTo>
                  <a:cubicBezTo>
                    <a:pt x="3248618" y="15363"/>
                    <a:pt x="3251987" y="23496"/>
                    <a:pt x="3251987" y="31977"/>
                  </a:cubicBezTo>
                  <a:lnTo>
                    <a:pt x="3251987" y="493738"/>
                  </a:lnTo>
                  <a:cubicBezTo>
                    <a:pt x="3251987" y="502219"/>
                    <a:pt x="3248618" y="510352"/>
                    <a:pt x="3242621" y="516349"/>
                  </a:cubicBezTo>
                  <a:cubicBezTo>
                    <a:pt x="3236624" y="522346"/>
                    <a:pt x="3228490" y="525715"/>
                    <a:pt x="3220009" y="525715"/>
                  </a:cubicBezTo>
                  <a:lnTo>
                    <a:pt x="31977" y="525715"/>
                  </a:lnTo>
                  <a:cubicBezTo>
                    <a:pt x="23496" y="525715"/>
                    <a:pt x="15363" y="522346"/>
                    <a:pt x="9366" y="516349"/>
                  </a:cubicBezTo>
                  <a:cubicBezTo>
                    <a:pt x="3369" y="510352"/>
                    <a:pt x="0" y="502219"/>
                    <a:pt x="0" y="493738"/>
                  </a:cubicBezTo>
                  <a:lnTo>
                    <a:pt x="0" y="31977"/>
                  </a:lnTo>
                  <a:cubicBezTo>
                    <a:pt x="0" y="23496"/>
                    <a:pt x="3369" y="15363"/>
                    <a:pt x="9366" y="9366"/>
                  </a:cubicBezTo>
                  <a:cubicBezTo>
                    <a:pt x="15363" y="3369"/>
                    <a:pt x="23496" y="0"/>
                    <a:pt x="31977" y="0"/>
                  </a:cubicBez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251987" cy="563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124126" y="3232827"/>
            <a:ext cx="14039749" cy="538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The following tools are used for development of this project: </a:t>
            </a: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For UI/UX: HTML, CSS, JavaScript, Bootstrap </a:t>
            </a: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For backend:  PHP</a:t>
            </a: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 Database:  MySQL </a:t>
            </a: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 For UML diagrams and wireframes:  Draw.io </a:t>
            </a: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Machine Learning:  Python(Scikit-learn) </a:t>
            </a: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Web Scraping:  BeautifulSoup </a:t>
            </a: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For Documentation:  Office Package  </a:t>
            </a: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For version control and collaboration:  Git and GitHub </a:t>
            </a: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For coding:  Visual Studio Code</a:t>
            </a: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543721" y="904875"/>
            <a:ext cx="9200557" cy="1127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5">
                <a:solidFill>
                  <a:srgbClr val="000000"/>
                </a:solidFill>
                <a:latin typeface="Fredoka" panose="02000000000000000000"/>
                <a:ea typeface="Fredoka" panose="02000000000000000000"/>
                <a:cs typeface="Fredoka" panose="02000000000000000000"/>
                <a:sym typeface="Fredoka" panose="02000000000000000000"/>
              </a:rPr>
              <a:t>REQUIRED TOOLS</a:t>
            </a:r>
            <a:endParaRPr lang="en-US" sz="6605">
              <a:solidFill>
                <a:srgbClr val="000000"/>
              </a:solidFill>
              <a:latin typeface="Fredoka" panose="02000000000000000000"/>
              <a:ea typeface="Fredoka" panose="02000000000000000000"/>
              <a:cs typeface="Fredoka" panose="02000000000000000000"/>
              <a:sym typeface="Fredoka" panose="02000000000000000000"/>
            </a:endParaRPr>
          </a:p>
        </p:txBody>
      </p:sp>
      <p:sp>
        <p:nvSpPr>
          <p:cNvPr id="14" name="Freeform 14"/>
          <p:cNvSpPr/>
          <p:nvPr/>
        </p:nvSpPr>
        <p:spPr>
          <a:xfrm rot="4302480">
            <a:off x="16435990" y="335858"/>
            <a:ext cx="2722598" cy="2788509"/>
          </a:xfrm>
          <a:custGeom>
            <a:avLst/>
            <a:gdLst/>
            <a:ahLst/>
            <a:cxnLst/>
            <a:rect l="l" t="t" r="r" b="b"/>
            <a:pathLst>
              <a:path w="2722598" h="2788509">
                <a:moveTo>
                  <a:pt x="0" y="0"/>
                </a:moveTo>
                <a:lnTo>
                  <a:pt x="2722599" y="0"/>
                </a:lnTo>
                <a:lnTo>
                  <a:pt x="2722599" y="2788508"/>
                </a:lnTo>
                <a:lnTo>
                  <a:pt x="0" y="278850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919996"/>
            <a:ext cx="16230600" cy="6820302"/>
            <a:chOff x="0" y="0"/>
            <a:chExt cx="4274726" cy="17962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796294"/>
            </a:xfrm>
            <a:custGeom>
              <a:avLst/>
              <a:gdLst/>
              <a:ahLst/>
              <a:cxnLst/>
              <a:rect l="l" t="t" r="r" b="b"/>
              <a:pathLst>
                <a:path w="4274726" h="1796294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771967"/>
                  </a:lnTo>
                  <a:cubicBezTo>
                    <a:pt x="4274726" y="1778419"/>
                    <a:pt x="4272163" y="1784606"/>
                    <a:pt x="4267601" y="1789169"/>
                  </a:cubicBezTo>
                  <a:cubicBezTo>
                    <a:pt x="4263039" y="1793731"/>
                    <a:pt x="4256851" y="1796294"/>
                    <a:pt x="4250399" y="1796294"/>
                  </a:cubicBezTo>
                  <a:lnTo>
                    <a:pt x="24327" y="1796294"/>
                  </a:lnTo>
                  <a:cubicBezTo>
                    <a:pt x="10891" y="1796294"/>
                    <a:pt x="0" y="1785402"/>
                    <a:pt x="0" y="1771967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18343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-292228" y="9258300"/>
            <a:ext cx="20004189" cy="1104251"/>
            <a:chOff x="0" y="0"/>
            <a:chExt cx="5268593" cy="2908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8593" cy="290832"/>
            </a:xfrm>
            <a:custGeom>
              <a:avLst/>
              <a:gdLst/>
              <a:ahLst/>
              <a:cxnLst/>
              <a:rect l="l" t="t" r="r" b="b"/>
              <a:pathLst>
                <a:path w="5268593" h="290832">
                  <a:moveTo>
                    <a:pt x="0" y="0"/>
                  </a:moveTo>
                  <a:lnTo>
                    <a:pt x="5268593" y="0"/>
                  </a:lnTo>
                  <a:lnTo>
                    <a:pt x="5268593" y="290832"/>
                  </a:lnTo>
                  <a:lnTo>
                    <a:pt x="0" y="290832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268593" cy="328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355054" y="9524676"/>
            <a:ext cx="557789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Page 5</a:t>
            </a: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2970306" y="619030"/>
            <a:ext cx="12347388" cy="1996075"/>
            <a:chOff x="0" y="0"/>
            <a:chExt cx="3251987" cy="525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51987" cy="525715"/>
            </a:xfrm>
            <a:custGeom>
              <a:avLst/>
              <a:gdLst/>
              <a:ahLst/>
              <a:cxnLst/>
              <a:rect l="l" t="t" r="r" b="b"/>
              <a:pathLst>
                <a:path w="3251987" h="525715">
                  <a:moveTo>
                    <a:pt x="31977" y="0"/>
                  </a:moveTo>
                  <a:lnTo>
                    <a:pt x="3220009" y="0"/>
                  </a:lnTo>
                  <a:cubicBezTo>
                    <a:pt x="3228490" y="0"/>
                    <a:pt x="3236624" y="3369"/>
                    <a:pt x="3242621" y="9366"/>
                  </a:cubicBezTo>
                  <a:cubicBezTo>
                    <a:pt x="3248618" y="15363"/>
                    <a:pt x="3251987" y="23496"/>
                    <a:pt x="3251987" y="31977"/>
                  </a:cubicBezTo>
                  <a:lnTo>
                    <a:pt x="3251987" y="493738"/>
                  </a:lnTo>
                  <a:cubicBezTo>
                    <a:pt x="3251987" y="502219"/>
                    <a:pt x="3248618" y="510352"/>
                    <a:pt x="3242621" y="516349"/>
                  </a:cubicBezTo>
                  <a:cubicBezTo>
                    <a:pt x="3236624" y="522346"/>
                    <a:pt x="3228490" y="525715"/>
                    <a:pt x="3220009" y="525715"/>
                  </a:cubicBezTo>
                  <a:lnTo>
                    <a:pt x="31977" y="525715"/>
                  </a:lnTo>
                  <a:cubicBezTo>
                    <a:pt x="23496" y="525715"/>
                    <a:pt x="15363" y="522346"/>
                    <a:pt x="9366" y="516349"/>
                  </a:cubicBezTo>
                  <a:cubicBezTo>
                    <a:pt x="3369" y="510352"/>
                    <a:pt x="0" y="502219"/>
                    <a:pt x="0" y="493738"/>
                  </a:cubicBezTo>
                  <a:lnTo>
                    <a:pt x="0" y="31977"/>
                  </a:lnTo>
                  <a:cubicBezTo>
                    <a:pt x="0" y="23496"/>
                    <a:pt x="3369" y="15363"/>
                    <a:pt x="9366" y="9366"/>
                  </a:cubicBezTo>
                  <a:cubicBezTo>
                    <a:pt x="15363" y="3369"/>
                    <a:pt x="23496" y="0"/>
                    <a:pt x="31977" y="0"/>
                  </a:cubicBez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251987" cy="563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124126" y="3232827"/>
            <a:ext cx="14039749" cy="3231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altLang="en-US" sz="3000" b="1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Data Size:</a:t>
            </a:r>
            <a:r>
              <a:rPr lang="en-US" alt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 2,000 iPhone listings</a:t>
            </a:r>
            <a:endParaRPr lang="en-US" alt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algn="l">
              <a:lnSpc>
                <a:spcPts val="4200"/>
              </a:lnSpc>
            </a:pPr>
            <a:r>
              <a:rPr lang="en-US" altLang="en-US" sz="3000" b="1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Source:</a:t>
            </a:r>
            <a:r>
              <a:rPr lang="en-US" alt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 Hamrobazar (Nepal)</a:t>
            </a:r>
            <a:endParaRPr lang="en-US" alt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algn="l">
              <a:lnSpc>
                <a:spcPts val="4200"/>
              </a:lnSpc>
            </a:pPr>
            <a:r>
              <a:rPr lang="en-US" altLang="en-US" sz="3000" b="1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Key Attributes:</a:t>
            </a:r>
            <a:r>
              <a:rPr lang="en-US" alt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 Model, RAM, Storage, Battery Capacity, Used Months, Battery 				Health, Price </a:t>
            </a:r>
            <a:endParaRPr lang="en-US" alt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algn="l">
              <a:lnSpc>
                <a:spcPts val="4200"/>
              </a:lnSpc>
            </a:pPr>
            <a:r>
              <a:rPr lang="en-US" altLang="en-US" sz="3000" b="1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Sample Data:</a:t>
            </a:r>
            <a:endParaRPr lang="en-US" alt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algn="l">
              <a:lnSpc>
                <a:spcPts val="4200"/>
              </a:lnSpc>
            </a:pPr>
            <a:endParaRPr lang="en-US" alt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543721" y="904875"/>
            <a:ext cx="9200557" cy="1186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5">
                <a:solidFill>
                  <a:srgbClr val="000000"/>
                </a:solidFill>
                <a:latin typeface="Fredoka" panose="02000000000000000000"/>
                <a:ea typeface="Fredoka" panose="02000000000000000000"/>
                <a:cs typeface="Fredoka" panose="02000000000000000000"/>
                <a:sym typeface="Fredoka" panose="02000000000000000000"/>
              </a:rPr>
              <a:t>DATA DESCRIPTION </a:t>
            </a:r>
            <a:endParaRPr lang="en-US" sz="6605">
              <a:solidFill>
                <a:srgbClr val="000000"/>
              </a:solidFill>
              <a:latin typeface="Fredoka" panose="02000000000000000000"/>
              <a:ea typeface="Fredoka" panose="02000000000000000000"/>
              <a:cs typeface="Fredoka" panose="02000000000000000000"/>
              <a:sym typeface="Fredoka" panose="02000000000000000000"/>
            </a:endParaRPr>
          </a:p>
        </p:txBody>
      </p:sp>
      <p:sp>
        <p:nvSpPr>
          <p:cNvPr id="14" name="Freeform 14"/>
          <p:cNvSpPr/>
          <p:nvPr/>
        </p:nvSpPr>
        <p:spPr>
          <a:xfrm rot="4302480">
            <a:off x="16435990" y="335858"/>
            <a:ext cx="2722598" cy="2788509"/>
          </a:xfrm>
          <a:custGeom>
            <a:avLst/>
            <a:gdLst/>
            <a:ahLst/>
            <a:cxnLst/>
            <a:rect l="l" t="t" r="r" b="b"/>
            <a:pathLst>
              <a:path w="2722598" h="2788509">
                <a:moveTo>
                  <a:pt x="0" y="0"/>
                </a:moveTo>
                <a:lnTo>
                  <a:pt x="2722599" y="0"/>
                </a:lnTo>
                <a:lnTo>
                  <a:pt x="2722599" y="2788508"/>
                </a:lnTo>
                <a:lnTo>
                  <a:pt x="0" y="278850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5" name="Table 14"/>
          <p:cNvGraphicFramePr/>
          <p:nvPr>
            <p:custDataLst>
              <p:tags r:id="rId3"/>
            </p:custDataLst>
          </p:nvPr>
        </p:nvGraphicFramePr>
        <p:xfrm>
          <a:off x="2133600" y="6057900"/>
          <a:ext cx="14206220" cy="2263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9460"/>
                <a:gridCol w="1541780"/>
                <a:gridCol w="1770380"/>
                <a:gridCol w="2776220"/>
                <a:gridCol w="2303780"/>
                <a:gridCol w="2440940"/>
                <a:gridCol w="1343660"/>
              </a:tblGrid>
              <a:tr h="5657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/>
                        <a:t>model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/>
                        <a:t>RAM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/>
                        <a:t>storage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/>
                        <a:t>battery_capacity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/>
                        <a:t>used_months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/>
                        <a:t>battery_health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/>
                        <a:t>price</a:t>
                      </a:r>
                      <a:endParaRPr lang="en-US" sz="2800"/>
                    </a:p>
                  </a:txBody>
                  <a:tcPr/>
                </a:tc>
              </a:tr>
              <a:tr h="565785">
                <a:tc>
                  <a:txBody>
                    <a:bodyPr/>
                    <a:p>
                      <a:pPr algn="l" fontAlgn="ctr"/>
                      <a:r>
                        <a:rPr sz="2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iPhone 8</a:t>
                      </a:r>
                      <a:endParaRPr sz="2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2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1821</a:t>
                      </a:r>
                      <a:endParaRPr sz="2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2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2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2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64</a:t>
                      </a:r>
                      <a:endParaRPr sz="2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2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2017</a:t>
                      </a:r>
                      <a:endParaRPr sz="2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2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98</a:t>
                      </a:r>
                      <a:endParaRPr sz="2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2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85</a:t>
                      </a:r>
                      <a:endParaRPr sz="2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/>
                </a:tc>
              </a:tr>
              <a:tr h="565785">
                <a:tc>
                  <a:txBody>
                    <a:bodyPr/>
                    <a:p>
                      <a:pPr algn="l" fontAlgn="ctr"/>
                      <a:r>
                        <a:rPr sz="2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iPhone 16</a:t>
                      </a:r>
                      <a:endParaRPr sz="2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2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3561</a:t>
                      </a:r>
                      <a:endParaRPr sz="2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2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</a:t>
                      </a:r>
                      <a:endParaRPr sz="2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2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128</a:t>
                      </a:r>
                      <a:endParaRPr sz="2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2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2024</a:t>
                      </a:r>
                      <a:endParaRPr sz="2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2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</a:t>
                      </a:r>
                      <a:endParaRPr sz="2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2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61</a:t>
                      </a:r>
                      <a:endParaRPr sz="2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/>
                </a:tc>
              </a:tr>
              <a:tr h="565785">
                <a:tc>
                  <a:txBody>
                    <a:bodyPr/>
                    <a:p>
                      <a:pPr algn="l" fontAlgn="ctr"/>
                      <a:r>
                        <a:rPr sz="2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iPhone 11</a:t>
                      </a:r>
                      <a:endParaRPr sz="2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2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3110</a:t>
                      </a:r>
                      <a:endParaRPr sz="2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2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sz="2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2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64</a:t>
                      </a:r>
                      <a:endParaRPr sz="2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2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2019</a:t>
                      </a:r>
                      <a:endParaRPr sz="2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2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74</a:t>
                      </a:r>
                      <a:endParaRPr sz="2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2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99</a:t>
                      </a:r>
                      <a:endParaRPr sz="2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919996"/>
            <a:ext cx="16230600" cy="6820302"/>
            <a:chOff x="0" y="0"/>
            <a:chExt cx="4274726" cy="17962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796294"/>
            </a:xfrm>
            <a:custGeom>
              <a:avLst/>
              <a:gdLst/>
              <a:ahLst/>
              <a:cxnLst/>
              <a:rect l="l" t="t" r="r" b="b"/>
              <a:pathLst>
                <a:path w="4274726" h="1796294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771967"/>
                  </a:lnTo>
                  <a:cubicBezTo>
                    <a:pt x="4274726" y="1778419"/>
                    <a:pt x="4272163" y="1784606"/>
                    <a:pt x="4267601" y="1789169"/>
                  </a:cubicBezTo>
                  <a:cubicBezTo>
                    <a:pt x="4263039" y="1793731"/>
                    <a:pt x="4256851" y="1796294"/>
                    <a:pt x="4250399" y="1796294"/>
                  </a:cubicBezTo>
                  <a:lnTo>
                    <a:pt x="24327" y="1796294"/>
                  </a:lnTo>
                  <a:cubicBezTo>
                    <a:pt x="10891" y="1796294"/>
                    <a:pt x="0" y="1785402"/>
                    <a:pt x="0" y="1771967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18343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-292228" y="9258300"/>
            <a:ext cx="20004189" cy="1104251"/>
            <a:chOff x="0" y="0"/>
            <a:chExt cx="5268593" cy="2908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8593" cy="290832"/>
            </a:xfrm>
            <a:custGeom>
              <a:avLst/>
              <a:gdLst/>
              <a:ahLst/>
              <a:cxnLst/>
              <a:rect l="l" t="t" r="r" b="b"/>
              <a:pathLst>
                <a:path w="5268593" h="290832">
                  <a:moveTo>
                    <a:pt x="0" y="0"/>
                  </a:moveTo>
                  <a:lnTo>
                    <a:pt x="5268593" y="0"/>
                  </a:lnTo>
                  <a:lnTo>
                    <a:pt x="5268593" y="290832"/>
                  </a:lnTo>
                  <a:lnTo>
                    <a:pt x="0" y="290832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268593" cy="328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355054" y="9524676"/>
            <a:ext cx="5577893" cy="53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Page 6</a:t>
            </a: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2970306" y="619030"/>
            <a:ext cx="12347388" cy="1996075"/>
            <a:chOff x="0" y="0"/>
            <a:chExt cx="3251987" cy="525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51987" cy="525715"/>
            </a:xfrm>
            <a:custGeom>
              <a:avLst/>
              <a:gdLst/>
              <a:ahLst/>
              <a:cxnLst/>
              <a:rect l="l" t="t" r="r" b="b"/>
              <a:pathLst>
                <a:path w="3251987" h="525715">
                  <a:moveTo>
                    <a:pt x="31977" y="0"/>
                  </a:moveTo>
                  <a:lnTo>
                    <a:pt x="3220009" y="0"/>
                  </a:lnTo>
                  <a:cubicBezTo>
                    <a:pt x="3228490" y="0"/>
                    <a:pt x="3236624" y="3369"/>
                    <a:pt x="3242621" y="9366"/>
                  </a:cubicBezTo>
                  <a:cubicBezTo>
                    <a:pt x="3248618" y="15363"/>
                    <a:pt x="3251987" y="23496"/>
                    <a:pt x="3251987" y="31977"/>
                  </a:cubicBezTo>
                  <a:lnTo>
                    <a:pt x="3251987" y="493738"/>
                  </a:lnTo>
                  <a:cubicBezTo>
                    <a:pt x="3251987" y="502219"/>
                    <a:pt x="3248618" y="510352"/>
                    <a:pt x="3242621" y="516349"/>
                  </a:cubicBezTo>
                  <a:cubicBezTo>
                    <a:pt x="3236624" y="522346"/>
                    <a:pt x="3228490" y="525715"/>
                    <a:pt x="3220009" y="525715"/>
                  </a:cubicBezTo>
                  <a:lnTo>
                    <a:pt x="31977" y="525715"/>
                  </a:lnTo>
                  <a:cubicBezTo>
                    <a:pt x="23496" y="525715"/>
                    <a:pt x="15363" y="522346"/>
                    <a:pt x="9366" y="516349"/>
                  </a:cubicBezTo>
                  <a:cubicBezTo>
                    <a:pt x="3369" y="510352"/>
                    <a:pt x="0" y="502219"/>
                    <a:pt x="0" y="493738"/>
                  </a:cubicBezTo>
                  <a:lnTo>
                    <a:pt x="0" y="31977"/>
                  </a:lnTo>
                  <a:cubicBezTo>
                    <a:pt x="0" y="23496"/>
                    <a:pt x="3369" y="15363"/>
                    <a:pt x="9366" y="9366"/>
                  </a:cubicBezTo>
                  <a:cubicBezTo>
                    <a:pt x="15363" y="3369"/>
                    <a:pt x="23496" y="0"/>
                    <a:pt x="31977" y="0"/>
                  </a:cubicBez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251987" cy="563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124075" y="3232785"/>
            <a:ext cx="14039850" cy="539877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1. </a:t>
            </a:r>
            <a:r>
              <a:rPr lang="en-US" alt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Data Visualization</a:t>
            </a:r>
            <a:endParaRPr lang="en-US" alt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algn="l">
              <a:lnSpc>
                <a:spcPts val="4200"/>
              </a:lnSpc>
            </a:pPr>
            <a:r>
              <a:rPr lang="en-US" alt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       Histogram of price: </a:t>
            </a:r>
            <a:endParaRPr lang="en-US" alt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indent="457200"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572296" y="342900"/>
            <a:ext cx="9200557" cy="3558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altLang="en-US" sz="6605">
                <a:solidFill>
                  <a:srgbClr val="000000"/>
                </a:solidFill>
                <a:latin typeface="Fredoka" panose="02000000000000000000"/>
                <a:ea typeface="Fredoka" panose="02000000000000000000"/>
                <a:cs typeface="Fredoka" panose="02000000000000000000"/>
                <a:sym typeface="Fredoka" panose="02000000000000000000"/>
              </a:rPr>
              <a:t>EXPLORATORY DATA ANALYSIS (EDA)</a:t>
            </a:r>
            <a:r>
              <a:rPr lang="en-US" sz="6605">
                <a:solidFill>
                  <a:srgbClr val="000000"/>
                </a:solidFill>
                <a:latin typeface="Fredoka" panose="02000000000000000000"/>
                <a:ea typeface="Fredoka" panose="02000000000000000000"/>
                <a:cs typeface="Fredoka" panose="02000000000000000000"/>
                <a:sym typeface="Fredoka" panose="02000000000000000000"/>
              </a:rPr>
              <a:t> </a:t>
            </a:r>
            <a:endParaRPr lang="en-US" sz="6605">
              <a:solidFill>
                <a:srgbClr val="000000"/>
              </a:solidFill>
              <a:latin typeface="Fredoka" panose="02000000000000000000"/>
              <a:ea typeface="Fredoka" panose="02000000000000000000"/>
              <a:cs typeface="Fredoka" panose="02000000000000000000"/>
              <a:sym typeface="Fredoka" panose="02000000000000000000"/>
            </a:endParaRPr>
          </a:p>
          <a:p>
            <a:pPr algn="ctr">
              <a:lnSpc>
                <a:spcPts val="9250"/>
              </a:lnSpc>
            </a:pPr>
            <a:endParaRPr lang="en-US" sz="6605">
              <a:solidFill>
                <a:srgbClr val="000000"/>
              </a:solidFill>
              <a:latin typeface="Fredoka" panose="02000000000000000000"/>
              <a:ea typeface="Fredoka" panose="02000000000000000000"/>
              <a:cs typeface="Fredoka" panose="02000000000000000000"/>
              <a:sym typeface="Fredoka" panose="02000000000000000000"/>
            </a:endParaRPr>
          </a:p>
        </p:txBody>
      </p:sp>
      <p:sp>
        <p:nvSpPr>
          <p:cNvPr id="14" name="Freeform 14"/>
          <p:cNvSpPr/>
          <p:nvPr/>
        </p:nvSpPr>
        <p:spPr>
          <a:xfrm rot="4302480">
            <a:off x="16435990" y="335858"/>
            <a:ext cx="2722598" cy="2788509"/>
          </a:xfrm>
          <a:custGeom>
            <a:avLst/>
            <a:gdLst/>
            <a:ahLst/>
            <a:cxnLst/>
            <a:rect l="l" t="t" r="r" b="b"/>
            <a:pathLst>
              <a:path w="2722598" h="2788509">
                <a:moveTo>
                  <a:pt x="0" y="0"/>
                </a:moveTo>
                <a:lnTo>
                  <a:pt x="2722599" y="0"/>
                </a:lnTo>
                <a:lnTo>
                  <a:pt x="2722599" y="2788508"/>
                </a:lnTo>
                <a:lnTo>
                  <a:pt x="0" y="278850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15" name="Picture 14" descr="histogram of pr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695700"/>
            <a:ext cx="6965950" cy="45993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739775"/>
            <a:ext cx="16230600" cy="8001000"/>
            <a:chOff x="0" y="0"/>
            <a:chExt cx="4274726" cy="17962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796294"/>
            </a:xfrm>
            <a:custGeom>
              <a:avLst/>
              <a:gdLst/>
              <a:ahLst/>
              <a:cxnLst/>
              <a:rect l="l" t="t" r="r" b="b"/>
              <a:pathLst>
                <a:path w="4274726" h="1796294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771967"/>
                  </a:lnTo>
                  <a:cubicBezTo>
                    <a:pt x="4274726" y="1778419"/>
                    <a:pt x="4272163" y="1784606"/>
                    <a:pt x="4267601" y="1789169"/>
                  </a:cubicBezTo>
                  <a:cubicBezTo>
                    <a:pt x="4263039" y="1793731"/>
                    <a:pt x="4256851" y="1796294"/>
                    <a:pt x="4250399" y="1796294"/>
                  </a:cubicBezTo>
                  <a:lnTo>
                    <a:pt x="24327" y="1796294"/>
                  </a:lnTo>
                  <a:cubicBezTo>
                    <a:pt x="10891" y="1796294"/>
                    <a:pt x="0" y="1785402"/>
                    <a:pt x="0" y="1771967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18343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-292228" y="9258300"/>
            <a:ext cx="20004189" cy="1104251"/>
            <a:chOff x="0" y="0"/>
            <a:chExt cx="5268593" cy="2908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8593" cy="290832"/>
            </a:xfrm>
            <a:custGeom>
              <a:avLst/>
              <a:gdLst/>
              <a:ahLst/>
              <a:cxnLst/>
              <a:rect l="l" t="t" r="r" b="b"/>
              <a:pathLst>
                <a:path w="5268593" h="290832">
                  <a:moveTo>
                    <a:pt x="0" y="0"/>
                  </a:moveTo>
                  <a:lnTo>
                    <a:pt x="5268593" y="0"/>
                  </a:lnTo>
                  <a:lnTo>
                    <a:pt x="5268593" y="290832"/>
                  </a:lnTo>
                  <a:lnTo>
                    <a:pt x="0" y="290832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268593" cy="328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355054" y="9524676"/>
            <a:ext cx="5577893" cy="53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Page 7</a:t>
            </a: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24075" y="894080"/>
            <a:ext cx="14039850" cy="772477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Scatter Plot</a:t>
            </a:r>
            <a:r>
              <a:rPr 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 </a:t>
            </a: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ram vs price						     launch_year vs price</a:t>
            </a: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marL="3524250" lvl="8" indent="457200" algn="l">
              <a:lnSpc>
                <a:spcPts val="4200"/>
              </a:lnSpc>
              <a:buFont typeface="Arial" panose="020B0604020202020204" pitchFamily="34" charset="0"/>
              <a:buNone/>
            </a:pPr>
            <a:r>
              <a:rPr 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						 </a:t>
            </a: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</p:txBody>
      </p:sp>
      <p:sp>
        <p:nvSpPr>
          <p:cNvPr id="14" name="Freeform 14"/>
          <p:cNvSpPr/>
          <p:nvPr/>
        </p:nvSpPr>
        <p:spPr>
          <a:xfrm rot="4302480">
            <a:off x="16435990" y="335858"/>
            <a:ext cx="2722598" cy="2788509"/>
          </a:xfrm>
          <a:custGeom>
            <a:avLst/>
            <a:gdLst/>
            <a:ahLst/>
            <a:cxnLst/>
            <a:rect l="l" t="t" r="r" b="b"/>
            <a:pathLst>
              <a:path w="2722598" h="2788509">
                <a:moveTo>
                  <a:pt x="0" y="0"/>
                </a:moveTo>
                <a:lnTo>
                  <a:pt x="2722599" y="0"/>
                </a:lnTo>
                <a:lnTo>
                  <a:pt x="2722599" y="2788508"/>
                </a:lnTo>
                <a:lnTo>
                  <a:pt x="0" y="278850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</p:sp>
      <p:pic>
        <p:nvPicPr>
          <p:cNvPr id="15" name="Picture 14" descr="ram vs price scatter pl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1145" y="2247900"/>
            <a:ext cx="7704455" cy="5010785"/>
          </a:xfrm>
          <a:prstGeom prst="rect">
            <a:avLst/>
          </a:prstGeom>
        </p:spPr>
      </p:pic>
      <p:pic>
        <p:nvPicPr>
          <p:cNvPr id="16" name="Picture 15" descr="launch year vs price scatter pl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247900"/>
            <a:ext cx="6868795" cy="49961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324485"/>
            <a:ext cx="16230600" cy="8416290"/>
            <a:chOff x="0" y="0"/>
            <a:chExt cx="4274726" cy="17962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796294"/>
            </a:xfrm>
            <a:custGeom>
              <a:avLst/>
              <a:gdLst/>
              <a:ahLst/>
              <a:cxnLst/>
              <a:rect l="l" t="t" r="r" b="b"/>
              <a:pathLst>
                <a:path w="4274726" h="1796294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771967"/>
                  </a:lnTo>
                  <a:cubicBezTo>
                    <a:pt x="4274726" y="1778419"/>
                    <a:pt x="4272163" y="1784606"/>
                    <a:pt x="4267601" y="1789169"/>
                  </a:cubicBezTo>
                  <a:cubicBezTo>
                    <a:pt x="4263039" y="1793731"/>
                    <a:pt x="4256851" y="1796294"/>
                    <a:pt x="4250399" y="1796294"/>
                  </a:cubicBezTo>
                  <a:lnTo>
                    <a:pt x="24327" y="1796294"/>
                  </a:lnTo>
                  <a:cubicBezTo>
                    <a:pt x="10891" y="1796294"/>
                    <a:pt x="0" y="1785402"/>
                    <a:pt x="0" y="1771967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18343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-292228" y="9258300"/>
            <a:ext cx="20004189" cy="1104251"/>
            <a:chOff x="0" y="0"/>
            <a:chExt cx="5268593" cy="2908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8593" cy="290832"/>
            </a:xfrm>
            <a:custGeom>
              <a:avLst/>
              <a:gdLst/>
              <a:ahLst/>
              <a:cxnLst/>
              <a:rect l="l" t="t" r="r" b="b"/>
              <a:pathLst>
                <a:path w="5268593" h="290832">
                  <a:moveTo>
                    <a:pt x="0" y="0"/>
                  </a:moveTo>
                  <a:lnTo>
                    <a:pt x="5268593" y="0"/>
                  </a:lnTo>
                  <a:lnTo>
                    <a:pt x="5268593" y="290832"/>
                  </a:lnTo>
                  <a:lnTo>
                    <a:pt x="0" y="290832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268593" cy="328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355054" y="9524676"/>
            <a:ext cx="5577893" cy="53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Page 8</a:t>
            </a: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71651" y="571542"/>
            <a:ext cx="14039749" cy="107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alt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2. Correlation Analysis </a:t>
            </a:r>
            <a:endParaRPr lang="en-US" alt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lvl="1"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</p:txBody>
      </p:sp>
      <p:sp>
        <p:nvSpPr>
          <p:cNvPr id="14" name="Freeform 14"/>
          <p:cNvSpPr/>
          <p:nvPr/>
        </p:nvSpPr>
        <p:spPr>
          <a:xfrm rot="4302480">
            <a:off x="16435990" y="335858"/>
            <a:ext cx="2722598" cy="2788509"/>
          </a:xfrm>
          <a:custGeom>
            <a:avLst/>
            <a:gdLst/>
            <a:ahLst/>
            <a:cxnLst/>
            <a:rect l="l" t="t" r="r" b="b"/>
            <a:pathLst>
              <a:path w="2722598" h="2788509">
                <a:moveTo>
                  <a:pt x="0" y="0"/>
                </a:moveTo>
                <a:lnTo>
                  <a:pt x="2722599" y="0"/>
                </a:lnTo>
                <a:lnTo>
                  <a:pt x="2722599" y="2788508"/>
                </a:lnTo>
                <a:lnTo>
                  <a:pt x="0" y="278850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</p:sp>
      <p:pic>
        <p:nvPicPr>
          <p:cNvPr id="15" name="Picture 14" descr="heatma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3545" y="1182370"/>
            <a:ext cx="12972415" cy="74510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919996"/>
            <a:ext cx="16230600" cy="6820302"/>
            <a:chOff x="0" y="0"/>
            <a:chExt cx="4274726" cy="17962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796294"/>
            </a:xfrm>
            <a:custGeom>
              <a:avLst/>
              <a:gdLst/>
              <a:ahLst/>
              <a:cxnLst/>
              <a:rect l="l" t="t" r="r" b="b"/>
              <a:pathLst>
                <a:path w="4274726" h="1796294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771967"/>
                  </a:lnTo>
                  <a:cubicBezTo>
                    <a:pt x="4274726" y="1778419"/>
                    <a:pt x="4272163" y="1784606"/>
                    <a:pt x="4267601" y="1789169"/>
                  </a:cubicBezTo>
                  <a:cubicBezTo>
                    <a:pt x="4263039" y="1793731"/>
                    <a:pt x="4256851" y="1796294"/>
                    <a:pt x="4250399" y="1796294"/>
                  </a:cubicBezTo>
                  <a:lnTo>
                    <a:pt x="24327" y="1796294"/>
                  </a:lnTo>
                  <a:cubicBezTo>
                    <a:pt x="10891" y="1796294"/>
                    <a:pt x="0" y="1785402"/>
                    <a:pt x="0" y="1771967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18343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-292228" y="9258300"/>
            <a:ext cx="20004189" cy="1104251"/>
            <a:chOff x="0" y="0"/>
            <a:chExt cx="5268593" cy="2908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8593" cy="290832"/>
            </a:xfrm>
            <a:custGeom>
              <a:avLst/>
              <a:gdLst/>
              <a:ahLst/>
              <a:cxnLst/>
              <a:rect l="l" t="t" r="r" b="b"/>
              <a:pathLst>
                <a:path w="5268593" h="290832">
                  <a:moveTo>
                    <a:pt x="0" y="0"/>
                  </a:moveTo>
                  <a:lnTo>
                    <a:pt x="5268593" y="0"/>
                  </a:lnTo>
                  <a:lnTo>
                    <a:pt x="5268593" y="290832"/>
                  </a:lnTo>
                  <a:lnTo>
                    <a:pt x="0" y="290832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268593" cy="328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355054" y="9524676"/>
            <a:ext cx="5577893" cy="53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Page 9</a:t>
            </a: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2970306" y="619030"/>
            <a:ext cx="12347388" cy="1996075"/>
            <a:chOff x="0" y="0"/>
            <a:chExt cx="3251987" cy="525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51987" cy="525715"/>
            </a:xfrm>
            <a:custGeom>
              <a:avLst/>
              <a:gdLst/>
              <a:ahLst/>
              <a:cxnLst/>
              <a:rect l="l" t="t" r="r" b="b"/>
              <a:pathLst>
                <a:path w="3251987" h="525715">
                  <a:moveTo>
                    <a:pt x="31977" y="0"/>
                  </a:moveTo>
                  <a:lnTo>
                    <a:pt x="3220009" y="0"/>
                  </a:lnTo>
                  <a:cubicBezTo>
                    <a:pt x="3228490" y="0"/>
                    <a:pt x="3236624" y="3369"/>
                    <a:pt x="3242621" y="9366"/>
                  </a:cubicBezTo>
                  <a:cubicBezTo>
                    <a:pt x="3248618" y="15363"/>
                    <a:pt x="3251987" y="23496"/>
                    <a:pt x="3251987" y="31977"/>
                  </a:cubicBezTo>
                  <a:lnTo>
                    <a:pt x="3251987" y="493738"/>
                  </a:lnTo>
                  <a:cubicBezTo>
                    <a:pt x="3251987" y="502219"/>
                    <a:pt x="3248618" y="510352"/>
                    <a:pt x="3242621" y="516349"/>
                  </a:cubicBezTo>
                  <a:cubicBezTo>
                    <a:pt x="3236624" y="522346"/>
                    <a:pt x="3228490" y="525715"/>
                    <a:pt x="3220009" y="525715"/>
                  </a:cubicBezTo>
                  <a:lnTo>
                    <a:pt x="31977" y="525715"/>
                  </a:lnTo>
                  <a:cubicBezTo>
                    <a:pt x="23496" y="525715"/>
                    <a:pt x="15363" y="522346"/>
                    <a:pt x="9366" y="516349"/>
                  </a:cubicBezTo>
                  <a:cubicBezTo>
                    <a:pt x="3369" y="510352"/>
                    <a:pt x="0" y="502219"/>
                    <a:pt x="0" y="493738"/>
                  </a:cubicBezTo>
                  <a:lnTo>
                    <a:pt x="0" y="31977"/>
                  </a:lnTo>
                  <a:cubicBezTo>
                    <a:pt x="0" y="23496"/>
                    <a:pt x="3369" y="15363"/>
                    <a:pt x="9366" y="9366"/>
                  </a:cubicBezTo>
                  <a:cubicBezTo>
                    <a:pt x="15363" y="3369"/>
                    <a:pt x="23496" y="0"/>
                    <a:pt x="31977" y="0"/>
                  </a:cubicBez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251987" cy="563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85900" y="3232785"/>
            <a:ext cx="14678025" cy="514032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4200"/>
              </a:lnSpc>
            </a:pPr>
            <a:r>
              <a:rPr lang="en-US" alt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Linear Regression:</a:t>
            </a:r>
            <a:endParaRPr lang="en-US" alt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algn="l">
              <a:lnSpc>
                <a:spcPts val="4200"/>
              </a:lnSpc>
            </a:pPr>
            <a:endParaRPr lang="en-US" alt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marL="457200" indent="-457200" algn="l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alt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Predicts iPhone resale price based on features.</a:t>
            </a:r>
            <a:endParaRPr lang="en-US" alt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indent="0" algn="l">
              <a:lnSpc>
                <a:spcPts val="4200"/>
              </a:lnSpc>
              <a:buFont typeface="Arial" panose="020B0604020202020204" pitchFamily="34" charset="0"/>
              <a:buNone/>
            </a:pPr>
            <a:endParaRPr lang="en-US" alt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marL="457200" indent="-457200" algn="l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altLang="en-US" sz="3000" b="1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Features used</a:t>
            </a:r>
            <a:r>
              <a:rPr lang="en-US" alt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: Model, RAM, Storage, Battery Capacity, Used Months, Battery Health.</a:t>
            </a:r>
            <a:endParaRPr lang="en-US" alt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indent="0" algn="l">
              <a:lnSpc>
                <a:spcPts val="4200"/>
              </a:lnSpc>
              <a:buFont typeface="Arial" panose="020B0604020202020204" pitchFamily="34" charset="0"/>
              <a:buNone/>
            </a:pPr>
            <a:endParaRPr lang="en-US" alt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marL="457200" indent="-457200" algn="l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altLang="en-US" sz="3000" b="1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Why used</a:t>
            </a:r>
            <a:r>
              <a:rPr lang="en-US" alt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: Simple, interpretable, effective for predicting continuous values.</a:t>
            </a:r>
            <a:endParaRPr lang="en-US" alt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543721" y="904875"/>
            <a:ext cx="9200557" cy="1186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5">
                <a:solidFill>
                  <a:srgbClr val="000000"/>
                </a:solidFill>
                <a:latin typeface="Fredoka" panose="02000000000000000000"/>
                <a:ea typeface="Fredoka" panose="02000000000000000000"/>
                <a:cs typeface="Fredoka" panose="02000000000000000000"/>
                <a:sym typeface="Fredoka" panose="02000000000000000000"/>
              </a:rPr>
              <a:t>ALGORITHM USED</a:t>
            </a:r>
            <a:endParaRPr lang="en-US" sz="6605">
              <a:solidFill>
                <a:srgbClr val="000000"/>
              </a:solidFill>
              <a:latin typeface="Fredoka" panose="02000000000000000000"/>
              <a:ea typeface="Fredoka" panose="02000000000000000000"/>
              <a:cs typeface="Fredoka" panose="02000000000000000000"/>
              <a:sym typeface="Fredoka" panose="02000000000000000000"/>
            </a:endParaRPr>
          </a:p>
        </p:txBody>
      </p:sp>
      <p:sp>
        <p:nvSpPr>
          <p:cNvPr id="14" name="Freeform 14"/>
          <p:cNvSpPr/>
          <p:nvPr/>
        </p:nvSpPr>
        <p:spPr>
          <a:xfrm rot="4302480">
            <a:off x="16435990" y="335858"/>
            <a:ext cx="2722598" cy="2788509"/>
          </a:xfrm>
          <a:custGeom>
            <a:avLst/>
            <a:gdLst/>
            <a:ahLst/>
            <a:cxnLst/>
            <a:rect l="l" t="t" r="r" b="b"/>
            <a:pathLst>
              <a:path w="2722598" h="2788509">
                <a:moveTo>
                  <a:pt x="0" y="0"/>
                </a:moveTo>
                <a:lnTo>
                  <a:pt x="2722599" y="0"/>
                </a:lnTo>
                <a:lnTo>
                  <a:pt x="2722599" y="2788508"/>
                </a:lnTo>
                <a:lnTo>
                  <a:pt x="0" y="278850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919996"/>
            <a:ext cx="16230600" cy="6820302"/>
            <a:chOff x="0" y="0"/>
            <a:chExt cx="4274726" cy="17962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796294"/>
            </a:xfrm>
            <a:custGeom>
              <a:avLst/>
              <a:gdLst/>
              <a:ahLst/>
              <a:cxnLst/>
              <a:rect l="l" t="t" r="r" b="b"/>
              <a:pathLst>
                <a:path w="4274726" h="1796294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771967"/>
                  </a:lnTo>
                  <a:cubicBezTo>
                    <a:pt x="4274726" y="1778419"/>
                    <a:pt x="4272163" y="1784606"/>
                    <a:pt x="4267601" y="1789169"/>
                  </a:cubicBezTo>
                  <a:cubicBezTo>
                    <a:pt x="4263039" y="1793731"/>
                    <a:pt x="4256851" y="1796294"/>
                    <a:pt x="4250399" y="1796294"/>
                  </a:cubicBezTo>
                  <a:lnTo>
                    <a:pt x="24327" y="1796294"/>
                  </a:lnTo>
                  <a:cubicBezTo>
                    <a:pt x="10891" y="1796294"/>
                    <a:pt x="0" y="1785402"/>
                    <a:pt x="0" y="1771967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18343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-292228" y="9258300"/>
            <a:ext cx="20004189" cy="1104251"/>
            <a:chOff x="0" y="0"/>
            <a:chExt cx="5268593" cy="2908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8593" cy="290832"/>
            </a:xfrm>
            <a:custGeom>
              <a:avLst/>
              <a:gdLst/>
              <a:ahLst/>
              <a:cxnLst/>
              <a:rect l="l" t="t" r="r" b="b"/>
              <a:pathLst>
                <a:path w="5268593" h="290832">
                  <a:moveTo>
                    <a:pt x="0" y="0"/>
                  </a:moveTo>
                  <a:lnTo>
                    <a:pt x="5268593" y="0"/>
                  </a:lnTo>
                  <a:lnTo>
                    <a:pt x="5268593" y="290832"/>
                  </a:lnTo>
                  <a:lnTo>
                    <a:pt x="0" y="290832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268593" cy="328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355054" y="9524676"/>
            <a:ext cx="5577893" cy="53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Page 10</a:t>
            </a: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2970306" y="619030"/>
            <a:ext cx="12347388" cy="1996075"/>
            <a:chOff x="0" y="0"/>
            <a:chExt cx="3251987" cy="525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51987" cy="525715"/>
            </a:xfrm>
            <a:custGeom>
              <a:avLst/>
              <a:gdLst/>
              <a:ahLst/>
              <a:cxnLst/>
              <a:rect l="l" t="t" r="r" b="b"/>
              <a:pathLst>
                <a:path w="3251987" h="525715">
                  <a:moveTo>
                    <a:pt x="31977" y="0"/>
                  </a:moveTo>
                  <a:lnTo>
                    <a:pt x="3220009" y="0"/>
                  </a:lnTo>
                  <a:cubicBezTo>
                    <a:pt x="3228490" y="0"/>
                    <a:pt x="3236624" y="3369"/>
                    <a:pt x="3242621" y="9366"/>
                  </a:cubicBezTo>
                  <a:cubicBezTo>
                    <a:pt x="3248618" y="15363"/>
                    <a:pt x="3251987" y="23496"/>
                    <a:pt x="3251987" y="31977"/>
                  </a:cubicBezTo>
                  <a:lnTo>
                    <a:pt x="3251987" y="493738"/>
                  </a:lnTo>
                  <a:cubicBezTo>
                    <a:pt x="3251987" y="502219"/>
                    <a:pt x="3248618" y="510352"/>
                    <a:pt x="3242621" y="516349"/>
                  </a:cubicBezTo>
                  <a:cubicBezTo>
                    <a:pt x="3236624" y="522346"/>
                    <a:pt x="3228490" y="525715"/>
                    <a:pt x="3220009" y="525715"/>
                  </a:cubicBezTo>
                  <a:lnTo>
                    <a:pt x="31977" y="525715"/>
                  </a:lnTo>
                  <a:cubicBezTo>
                    <a:pt x="23496" y="525715"/>
                    <a:pt x="15363" y="522346"/>
                    <a:pt x="9366" y="516349"/>
                  </a:cubicBezTo>
                  <a:cubicBezTo>
                    <a:pt x="3369" y="510352"/>
                    <a:pt x="0" y="502219"/>
                    <a:pt x="0" y="493738"/>
                  </a:cubicBezTo>
                  <a:lnTo>
                    <a:pt x="0" y="31977"/>
                  </a:lnTo>
                  <a:cubicBezTo>
                    <a:pt x="0" y="23496"/>
                    <a:pt x="3369" y="15363"/>
                    <a:pt x="9366" y="9366"/>
                  </a:cubicBezTo>
                  <a:cubicBezTo>
                    <a:pt x="15363" y="3369"/>
                    <a:pt x="23496" y="0"/>
                    <a:pt x="31977" y="0"/>
                  </a:cubicBez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251987" cy="563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124075" y="3232785"/>
            <a:ext cx="14039850" cy="51682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4200"/>
              </a:lnSpc>
            </a:pPr>
            <a:r>
              <a:rPr lang="en-US" alt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Metrics: </a:t>
            </a:r>
            <a:endParaRPr lang="en-US" alt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marL="914400" lvl="1" indent="-457200" algn="l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alt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R² Score: How well the model predicts price compared to actual values.</a:t>
            </a:r>
            <a:endParaRPr lang="en-US" alt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marL="914400" lvl="1" indent="-457200" algn="l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alt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Mean Absolute Error (MAE): Average absolute difference between predicted and actual prices.</a:t>
            </a:r>
            <a:endParaRPr lang="en-US" alt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marL="914400" lvl="1" indent="-457200" algn="l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alt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 Root Mean Squared Error (RMSE): Penalizes larger errors more heavily.</a:t>
            </a:r>
            <a:endParaRPr lang="en-US" alt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lvl="1" indent="0" algn="l">
              <a:lnSpc>
                <a:spcPts val="4200"/>
              </a:lnSpc>
              <a:buFont typeface="Arial" panose="020B0604020202020204" pitchFamily="34" charset="0"/>
              <a:buNone/>
            </a:pPr>
            <a:r>
              <a:rPr 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  </a:t>
            </a: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543425" y="904875"/>
            <a:ext cx="9948545" cy="11861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5">
                <a:solidFill>
                  <a:srgbClr val="000000"/>
                </a:solidFill>
                <a:latin typeface="Fredoka" panose="02000000000000000000"/>
                <a:ea typeface="Fredoka" panose="02000000000000000000"/>
                <a:cs typeface="Fredoka" panose="02000000000000000000"/>
                <a:sym typeface="Fredoka" panose="02000000000000000000"/>
              </a:rPr>
              <a:t>EVALUATION MATRIX</a:t>
            </a:r>
            <a:endParaRPr lang="en-US" sz="6605">
              <a:solidFill>
                <a:srgbClr val="000000"/>
              </a:solidFill>
              <a:latin typeface="Fredoka" panose="02000000000000000000"/>
              <a:ea typeface="Fredoka" panose="02000000000000000000"/>
              <a:cs typeface="Fredoka" panose="02000000000000000000"/>
              <a:sym typeface="Fredoka" panose="02000000000000000000"/>
            </a:endParaRPr>
          </a:p>
        </p:txBody>
      </p:sp>
      <p:sp>
        <p:nvSpPr>
          <p:cNvPr id="14" name="Freeform 14"/>
          <p:cNvSpPr/>
          <p:nvPr/>
        </p:nvSpPr>
        <p:spPr>
          <a:xfrm rot="4302480">
            <a:off x="16435990" y="335858"/>
            <a:ext cx="2722598" cy="2788509"/>
          </a:xfrm>
          <a:custGeom>
            <a:avLst/>
            <a:gdLst/>
            <a:ahLst/>
            <a:cxnLst/>
            <a:rect l="l" t="t" r="r" b="b"/>
            <a:pathLst>
              <a:path w="2722598" h="2788509">
                <a:moveTo>
                  <a:pt x="0" y="0"/>
                </a:moveTo>
                <a:lnTo>
                  <a:pt x="2722599" y="0"/>
                </a:lnTo>
                <a:lnTo>
                  <a:pt x="2722599" y="2788508"/>
                </a:lnTo>
                <a:lnTo>
                  <a:pt x="0" y="278850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</p:sp>
      <p:graphicFrame>
        <p:nvGraphicFramePr>
          <p:cNvPr id="15" name="Table 14"/>
          <p:cNvGraphicFramePr/>
          <p:nvPr>
            <p:custDataLst>
              <p:tags r:id="rId1"/>
            </p:custDataLst>
          </p:nvPr>
        </p:nvGraphicFramePr>
        <p:xfrm>
          <a:off x="3124200" y="6134100"/>
          <a:ext cx="12800330" cy="208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165"/>
                <a:gridCol w="6400165"/>
              </a:tblGrid>
              <a:tr h="5219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/>
                        <a:t>Metrics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/>
                        <a:t>Value</a:t>
                      </a:r>
                      <a:endParaRPr lang="en-US" sz="3200"/>
                    </a:p>
                  </a:txBody>
                  <a:tcPr/>
                </a:tc>
              </a:tr>
              <a:tr h="5219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3200">
                          <a:solidFill>
                            <a:srgbClr val="000000"/>
                          </a:solidFill>
                          <a:latin typeface="Nunito" panose="00000500000000000000"/>
                          <a:ea typeface="Nunito" panose="00000500000000000000"/>
                          <a:cs typeface="Nunito" panose="00000500000000000000"/>
                          <a:sym typeface="Nunito" panose="00000500000000000000"/>
                        </a:rPr>
                        <a:t>R² Score</a:t>
                      </a:r>
                      <a:endParaRPr lang="en-US" altLang="en-US" sz="3200">
                        <a:solidFill>
                          <a:srgbClr val="000000"/>
                        </a:solidFill>
                        <a:latin typeface="Nunito" panose="00000500000000000000"/>
                        <a:ea typeface="Nunito" panose="00000500000000000000"/>
                        <a:cs typeface="Nunito" panose="00000500000000000000"/>
                        <a:sym typeface="Nunito" panose="0000050000000000000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3200"/>
                        <a:t>0.9445724622843367</a:t>
                      </a:r>
                      <a:endParaRPr lang="en-US" altLang="en-US" sz="3200"/>
                    </a:p>
                  </a:txBody>
                  <a:tcPr/>
                </a:tc>
              </a:tr>
              <a:tr h="5219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3200">
                          <a:solidFill>
                            <a:srgbClr val="000000"/>
                          </a:solidFill>
                          <a:latin typeface="Nunito" panose="00000500000000000000"/>
                          <a:ea typeface="Nunito" panose="00000500000000000000"/>
                          <a:cs typeface="Nunito" panose="00000500000000000000"/>
                          <a:sym typeface="Nunito" panose="00000500000000000000"/>
                        </a:rPr>
                        <a:t>Mean Absolute Error (MAE)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3200"/>
                        <a:t>6200.489663442336</a:t>
                      </a:r>
                      <a:endParaRPr lang="en-US" altLang="en-US" sz="3200"/>
                    </a:p>
                  </a:txBody>
                  <a:tcPr/>
                </a:tc>
              </a:tr>
              <a:tr h="5219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3200">
                          <a:solidFill>
                            <a:srgbClr val="000000"/>
                          </a:solidFill>
                          <a:latin typeface="Nunito" panose="00000500000000000000"/>
                          <a:ea typeface="Nunito" panose="00000500000000000000"/>
                          <a:cs typeface="Nunito" panose="00000500000000000000"/>
                          <a:sym typeface="Nunito" panose="00000500000000000000"/>
                        </a:rPr>
                        <a:t>Root Mean Squared Error (RMSE)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3200"/>
                        <a:t>8064.525091440642</a:t>
                      </a:r>
                      <a:endParaRPr lang="en-US" altLang="en-US" sz="32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920240"/>
            <a:ext cx="16230600" cy="7910195"/>
            <a:chOff x="0" y="0"/>
            <a:chExt cx="4274726" cy="17962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796294"/>
            </a:xfrm>
            <a:custGeom>
              <a:avLst/>
              <a:gdLst/>
              <a:ahLst/>
              <a:cxnLst/>
              <a:rect l="l" t="t" r="r" b="b"/>
              <a:pathLst>
                <a:path w="4274726" h="1796294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771967"/>
                  </a:lnTo>
                  <a:cubicBezTo>
                    <a:pt x="4274726" y="1778419"/>
                    <a:pt x="4272163" y="1784606"/>
                    <a:pt x="4267601" y="1789169"/>
                  </a:cubicBezTo>
                  <a:cubicBezTo>
                    <a:pt x="4263039" y="1793731"/>
                    <a:pt x="4256851" y="1796294"/>
                    <a:pt x="4250399" y="1796294"/>
                  </a:cubicBezTo>
                  <a:lnTo>
                    <a:pt x="24327" y="1796294"/>
                  </a:lnTo>
                  <a:cubicBezTo>
                    <a:pt x="10891" y="1796294"/>
                    <a:pt x="0" y="1785402"/>
                    <a:pt x="0" y="1771967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18343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2970306" y="619030"/>
            <a:ext cx="12347388" cy="1996075"/>
            <a:chOff x="0" y="0"/>
            <a:chExt cx="3251987" cy="525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51987" cy="525715"/>
            </a:xfrm>
            <a:custGeom>
              <a:avLst/>
              <a:gdLst/>
              <a:ahLst/>
              <a:cxnLst/>
              <a:rect l="l" t="t" r="r" b="b"/>
              <a:pathLst>
                <a:path w="3251987" h="525715">
                  <a:moveTo>
                    <a:pt x="31977" y="0"/>
                  </a:moveTo>
                  <a:lnTo>
                    <a:pt x="3220009" y="0"/>
                  </a:lnTo>
                  <a:cubicBezTo>
                    <a:pt x="3228490" y="0"/>
                    <a:pt x="3236624" y="3369"/>
                    <a:pt x="3242621" y="9366"/>
                  </a:cubicBezTo>
                  <a:cubicBezTo>
                    <a:pt x="3248618" y="15363"/>
                    <a:pt x="3251987" y="23496"/>
                    <a:pt x="3251987" y="31977"/>
                  </a:cubicBezTo>
                  <a:lnTo>
                    <a:pt x="3251987" y="493738"/>
                  </a:lnTo>
                  <a:cubicBezTo>
                    <a:pt x="3251987" y="502219"/>
                    <a:pt x="3248618" y="510352"/>
                    <a:pt x="3242621" y="516349"/>
                  </a:cubicBezTo>
                  <a:cubicBezTo>
                    <a:pt x="3236624" y="522346"/>
                    <a:pt x="3228490" y="525715"/>
                    <a:pt x="3220009" y="525715"/>
                  </a:cubicBezTo>
                  <a:lnTo>
                    <a:pt x="31977" y="525715"/>
                  </a:lnTo>
                  <a:cubicBezTo>
                    <a:pt x="23496" y="525715"/>
                    <a:pt x="15363" y="522346"/>
                    <a:pt x="9366" y="516349"/>
                  </a:cubicBezTo>
                  <a:cubicBezTo>
                    <a:pt x="3369" y="510352"/>
                    <a:pt x="0" y="502219"/>
                    <a:pt x="0" y="493738"/>
                  </a:cubicBezTo>
                  <a:lnTo>
                    <a:pt x="0" y="31977"/>
                  </a:lnTo>
                  <a:cubicBezTo>
                    <a:pt x="0" y="23496"/>
                    <a:pt x="3369" y="15363"/>
                    <a:pt x="9366" y="9366"/>
                  </a:cubicBezTo>
                  <a:cubicBezTo>
                    <a:pt x="15363" y="3369"/>
                    <a:pt x="23496" y="0"/>
                    <a:pt x="31977" y="0"/>
                  </a:cubicBez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251987" cy="563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69365" y="2822575"/>
            <a:ext cx="14894560" cy="691642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4200"/>
              </a:lnSpc>
            </a:pPr>
            <a:r>
              <a:rPr lang="en-US" alt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Price Prediction Equation (Linear Regression):</a:t>
            </a:r>
            <a:endParaRPr lang="en-US" alt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marL="323850" lvl="1" indent="0" algn="l">
              <a:lnSpc>
                <a:spcPts val="4200"/>
              </a:lnSpc>
              <a:buFont typeface="Arial" panose="020B0604020202020204"/>
              <a:buNone/>
            </a:pPr>
            <a:endParaRPr lang="en-US" alt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marL="323850" lvl="1" indent="0" algn="l">
              <a:lnSpc>
                <a:spcPts val="4200"/>
              </a:lnSpc>
              <a:buFont typeface="Arial" panose="020B0604020202020204"/>
              <a:buNone/>
            </a:pPr>
            <a:endParaRPr lang="en-US" alt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543721" y="904875"/>
            <a:ext cx="9200557" cy="1186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5">
                <a:solidFill>
                  <a:srgbClr val="000000"/>
                </a:solidFill>
                <a:latin typeface="Fredoka" panose="02000000000000000000"/>
                <a:ea typeface="Fredoka" panose="02000000000000000000"/>
                <a:cs typeface="Fredoka" panose="02000000000000000000"/>
                <a:sym typeface="Fredoka" panose="02000000000000000000"/>
              </a:rPr>
              <a:t>EQUATION OPTAIN </a:t>
            </a:r>
            <a:endParaRPr lang="en-US" sz="6605">
              <a:solidFill>
                <a:srgbClr val="000000"/>
              </a:solidFill>
              <a:latin typeface="Fredoka" panose="02000000000000000000"/>
              <a:ea typeface="Fredoka" panose="02000000000000000000"/>
              <a:cs typeface="Fredoka" panose="02000000000000000000"/>
              <a:sym typeface="Fredoka" panose="02000000000000000000"/>
            </a:endParaRPr>
          </a:p>
        </p:txBody>
      </p:sp>
      <p:sp>
        <p:nvSpPr>
          <p:cNvPr id="14" name="Freeform 14"/>
          <p:cNvSpPr/>
          <p:nvPr/>
        </p:nvSpPr>
        <p:spPr>
          <a:xfrm rot="4302480">
            <a:off x="16435990" y="335858"/>
            <a:ext cx="2722598" cy="2788509"/>
          </a:xfrm>
          <a:custGeom>
            <a:avLst/>
            <a:gdLst/>
            <a:ahLst/>
            <a:cxnLst/>
            <a:rect l="l" t="t" r="r" b="b"/>
            <a:pathLst>
              <a:path w="2722598" h="2788509">
                <a:moveTo>
                  <a:pt x="0" y="0"/>
                </a:moveTo>
                <a:lnTo>
                  <a:pt x="2722599" y="0"/>
                </a:lnTo>
                <a:lnTo>
                  <a:pt x="2722599" y="2788508"/>
                </a:lnTo>
                <a:lnTo>
                  <a:pt x="0" y="278850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7800" y="3390900"/>
            <a:ext cx="9713595" cy="634809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0" y="3314700"/>
            <a:ext cx="5562600" cy="244665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2685" y="5761355"/>
            <a:ext cx="5518150" cy="21469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587500"/>
            <a:ext cx="16230600" cy="8559165"/>
            <a:chOff x="0" y="0"/>
            <a:chExt cx="4274726" cy="17962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796294"/>
            </a:xfrm>
            <a:custGeom>
              <a:avLst/>
              <a:gdLst/>
              <a:ahLst/>
              <a:cxnLst/>
              <a:rect l="l" t="t" r="r" b="b"/>
              <a:pathLst>
                <a:path w="4274726" h="1796294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771967"/>
                  </a:lnTo>
                  <a:cubicBezTo>
                    <a:pt x="4274726" y="1778419"/>
                    <a:pt x="4272163" y="1784606"/>
                    <a:pt x="4267601" y="1789169"/>
                  </a:cubicBezTo>
                  <a:cubicBezTo>
                    <a:pt x="4263039" y="1793731"/>
                    <a:pt x="4256851" y="1796294"/>
                    <a:pt x="4250399" y="1796294"/>
                  </a:cubicBezTo>
                  <a:lnTo>
                    <a:pt x="24327" y="1796294"/>
                  </a:lnTo>
                  <a:cubicBezTo>
                    <a:pt x="10891" y="1796294"/>
                    <a:pt x="0" y="1785402"/>
                    <a:pt x="0" y="1771967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18343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2970530" y="182880"/>
            <a:ext cx="12347575" cy="1282065"/>
            <a:chOff x="0" y="0"/>
            <a:chExt cx="3251987" cy="525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51987" cy="525715"/>
            </a:xfrm>
            <a:custGeom>
              <a:avLst/>
              <a:gdLst/>
              <a:ahLst/>
              <a:cxnLst/>
              <a:rect l="l" t="t" r="r" b="b"/>
              <a:pathLst>
                <a:path w="3251987" h="525715">
                  <a:moveTo>
                    <a:pt x="31977" y="0"/>
                  </a:moveTo>
                  <a:lnTo>
                    <a:pt x="3220009" y="0"/>
                  </a:lnTo>
                  <a:cubicBezTo>
                    <a:pt x="3228490" y="0"/>
                    <a:pt x="3236624" y="3369"/>
                    <a:pt x="3242621" y="9366"/>
                  </a:cubicBezTo>
                  <a:cubicBezTo>
                    <a:pt x="3248618" y="15363"/>
                    <a:pt x="3251987" y="23496"/>
                    <a:pt x="3251987" y="31977"/>
                  </a:cubicBezTo>
                  <a:lnTo>
                    <a:pt x="3251987" y="493738"/>
                  </a:lnTo>
                  <a:cubicBezTo>
                    <a:pt x="3251987" y="502219"/>
                    <a:pt x="3248618" y="510352"/>
                    <a:pt x="3242621" y="516349"/>
                  </a:cubicBezTo>
                  <a:cubicBezTo>
                    <a:pt x="3236624" y="522346"/>
                    <a:pt x="3228490" y="525715"/>
                    <a:pt x="3220009" y="525715"/>
                  </a:cubicBezTo>
                  <a:lnTo>
                    <a:pt x="31977" y="525715"/>
                  </a:lnTo>
                  <a:cubicBezTo>
                    <a:pt x="23496" y="525715"/>
                    <a:pt x="15363" y="522346"/>
                    <a:pt x="9366" y="516349"/>
                  </a:cubicBezTo>
                  <a:cubicBezTo>
                    <a:pt x="3369" y="510352"/>
                    <a:pt x="0" y="502219"/>
                    <a:pt x="0" y="493738"/>
                  </a:cubicBezTo>
                  <a:lnTo>
                    <a:pt x="0" y="31977"/>
                  </a:lnTo>
                  <a:cubicBezTo>
                    <a:pt x="0" y="23496"/>
                    <a:pt x="3369" y="15363"/>
                    <a:pt x="9366" y="9366"/>
                  </a:cubicBezTo>
                  <a:cubicBezTo>
                    <a:pt x="15363" y="3369"/>
                    <a:pt x="23496" y="0"/>
                    <a:pt x="31977" y="0"/>
                  </a:cubicBez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251987" cy="563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209800" y="3232785"/>
            <a:ext cx="14039850" cy="71100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496096" y="190500"/>
            <a:ext cx="9200557" cy="1186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5">
                <a:solidFill>
                  <a:srgbClr val="000000"/>
                </a:solidFill>
                <a:latin typeface="Fredoka" panose="02000000000000000000"/>
                <a:ea typeface="Fredoka" panose="02000000000000000000"/>
                <a:cs typeface="Fredoka" panose="02000000000000000000"/>
                <a:sym typeface="Fredoka" panose="02000000000000000000"/>
              </a:rPr>
              <a:t>USE CASE DIAGRAM</a:t>
            </a:r>
            <a:endParaRPr lang="en-US" sz="6605">
              <a:solidFill>
                <a:srgbClr val="000000"/>
              </a:solidFill>
              <a:latin typeface="Fredoka" panose="02000000000000000000"/>
              <a:ea typeface="Fredoka" panose="02000000000000000000"/>
              <a:cs typeface="Fredoka" panose="02000000000000000000"/>
              <a:sym typeface="Fredoka" panose="02000000000000000000"/>
            </a:endParaRPr>
          </a:p>
        </p:txBody>
      </p:sp>
      <p:sp>
        <p:nvSpPr>
          <p:cNvPr id="14" name="Freeform 14"/>
          <p:cNvSpPr/>
          <p:nvPr/>
        </p:nvSpPr>
        <p:spPr>
          <a:xfrm rot="4302480">
            <a:off x="16435990" y="335858"/>
            <a:ext cx="2722598" cy="2788509"/>
          </a:xfrm>
          <a:custGeom>
            <a:avLst/>
            <a:gdLst/>
            <a:ahLst/>
            <a:cxnLst/>
            <a:rect l="l" t="t" r="r" b="b"/>
            <a:pathLst>
              <a:path w="2722598" h="2788509">
                <a:moveTo>
                  <a:pt x="0" y="0"/>
                </a:moveTo>
                <a:lnTo>
                  <a:pt x="2722599" y="0"/>
                </a:lnTo>
                <a:lnTo>
                  <a:pt x="2722599" y="2788508"/>
                </a:lnTo>
                <a:lnTo>
                  <a:pt x="0" y="278850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</p:sp>
      <p:pic>
        <p:nvPicPr>
          <p:cNvPr id="16" name="Picture 15" descr="Use Case 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7410" y="1588135"/>
            <a:ext cx="8321040" cy="81045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677670"/>
            <a:ext cx="16230600" cy="8570595"/>
            <a:chOff x="0" y="0"/>
            <a:chExt cx="4274726" cy="17962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796294"/>
            </a:xfrm>
            <a:custGeom>
              <a:avLst/>
              <a:gdLst/>
              <a:ahLst/>
              <a:cxnLst/>
              <a:rect l="l" t="t" r="r" b="b"/>
              <a:pathLst>
                <a:path w="4274726" h="1796294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771967"/>
                  </a:lnTo>
                  <a:cubicBezTo>
                    <a:pt x="4274726" y="1778419"/>
                    <a:pt x="4272163" y="1784606"/>
                    <a:pt x="4267601" y="1789169"/>
                  </a:cubicBezTo>
                  <a:cubicBezTo>
                    <a:pt x="4263039" y="1793731"/>
                    <a:pt x="4256851" y="1796294"/>
                    <a:pt x="4250399" y="1796294"/>
                  </a:cubicBezTo>
                  <a:lnTo>
                    <a:pt x="24327" y="1796294"/>
                  </a:lnTo>
                  <a:cubicBezTo>
                    <a:pt x="10891" y="1796294"/>
                    <a:pt x="0" y="1785402"/>
                    <a:pt x="0" y="1771967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18343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2969895" y="182880"/>
            <a:ext cx="12347575" cy="1364615"/>
            <a:chOff x="0" y="0"/>
            <a:chExt cx="3251987" cy="525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51987" cy="525715"/>
            </a:xfrm>
            <a:custGeom>
              <a:avLst/>
              <a:gdLst/>
              <a:ahLst/>
              <a:cxnLst/>
              <a:rect l="l" t="t" r="r" b="b"/>
              <a:pathLst>
                <a:path w="3251987" h="525715">
                  <a:moveTo>
                    <a:pt x="31977" y="0"/>
                  </a:moveTo>
                  <a:lnTo>
                    <a:pt x="3220009" y="0"/>
                  </a:lnTo>
                  <a:cubicBezTo>
                    <a:pt x="3228490" y="0"/>
                    <a:pt x="3236624" y="3369"/>
                    <a:pt x="3242621" y="9366"/>
                  </a:cubicBezTo>
                  <a:cubicBezTo>
                    <a:pt x="3248618" y="15363"/>
                    <a:pt x="3251987" y="23496"/>
                    <a:pt x="3251987" y="31977"/>
                  </a:cubicBezTo>
                  <a:lnTo>
                    <a:pt x="3251987" y="493738"/>
                  </a:lnTo>
                  <a:cubicBezTo>
                    <a:pt x="3251987" y="502219"/>
                    <a:pt x="3248618" y="510352"/>
                    <a:pt x="3242621" y="516349"/>
                  </a:cubicBezTo>
                  <a:cubicBezTo>
                    <a:pt x="3236624" y="522346"/>
                    <a:pt x="3228490" y="525715"/>
                    <a:pt x="3220009" y="525715"/>
                  </a:cubicBezTo>
                  <a:lnTo>
                    <a:pt x="31977" y="525715"/>
                  </a:lnTo>
                  <a:cubicBezTo>
                    <a:pt x="23496" y="525715"/>
                    <a:pt x="15363" y="522346"/>
                    <a:pt x="9366" y="516349"/>
                  </a:cubicBezTo>
                  <a:cubicBezTo>
                    <a:pt x="3369" y="510352"/>
                    <a:pt x="0" y="502219"/>
                    <a:pt x="0" y="493738"/>
                  </a:cubicBezTo>
                  <a:lnTo>
                    <a:pt x="0" y="31977"/>
                  </a:lnTo>
                  <a:cubicBezTo>
                    <a:pt x="0" y="23496"/>
                    <a:pt x="3369" y="15363"/>
                    <a:pt x="9366" y="9366"/>
                  </a:cubicBezTo>
                  <a:cubicBezTo>
                    <a:pt x="15363" y="3369"/>
                    <a:pt x="23496" y="0"/>
                    <a:pt x="31977" y="0"/>
                  </a:cubicBez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251987" cy="563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124075" y="3232785"/>
            <a:ext cx="14039850" cy="70161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543721" y="266700"/>
            <a:ext cx="9200557" cy="1186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5">
                <a:solidFill>
                  <a:srgbClr val="000000"/>
                </a:solidFill>
                <a:latin typeface="Fredoka" panose="02000000000000000000"/>
                <a:ea typeface="Fredoka" panose="02000000000000000000"/>
                <a:cs typeface="Fredoka" panose="02000000000000000000"/>
                <a:sym typeface="Fredoka" panose="02000000000000000000"/>
              </a:rPr>
              <a:t>ER DIAGRAM</a:t>
            </a:r>
            <a:endParaRPr lang="en-US" sz="6605">
              <a:solidFill>
                <a:srgbClr val="000000"/>
              </a:solidFill>
              <a:latin typeface="Fredoka" panose="02000000000000000000"/>
              <a:ea typeface="Fredoka" panose="02000000000000000000"/>
              <a:cs typeface="Fredoka" panose="02000000000000000000"/>
              <a:sym typeface="Fredoka" panose="02000000000000000000"/>
            </a:endParaRPr>
          </a:p>
        </p:txBody>
      </p:sp>
      <p:sp>
        <p:nvSpPr>
          <p:cNvPr id="14" name="Freeform 14"/>
          <p:cNvSpPr/>
          <p:nvPr/>
        </p:nvSpPr>
        <p:spPr>
          <a:xfrm rot="4302480">
            <a:off x="16435990" y="335858"/>
            <a:ext cx="2722598" cy="2788509"/>
          </a:xfrm>
          <a:custGeom>
            <a:avLst/>
            <a:gdLst/>
            <a:ahLst/>
            <a:cxnLst/>
            <a:rect l="l" t="t" r="r" b="b"/>
            <a:pathLst>
              <a:path w="2722598" h="2788509">
                <a:moveTo>
                  <a:pt x="0" y="0"/>
                </a:moveTo>
                <a:lnTo>
                  <a:pt x="2722599" y="0"/>
                </a:lnTo>
                <a:lnTo>
                  <a:pt x="2722599" y="2788508"/>
                </a:lnTo>
                <a:lnTo>
                  <a:pt x="0" y="278850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</p:sp>
      <p:pic>
        <p:nvPicPr>
          <p:cNvPr id="15" name="Picture 14" descr="ER diagram 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975" y="1687830"/>
            <a:ext cx="16130905" cy="84804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919996"/>
            <a:ext cx="16230600" cy="6820302"/>
            <a:chOff x="0" y="0"/>
            <a:chExt cx="4274726" cy="17962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796294"/>
            </a:xfrm>
            <a:custGeom>
              <a:avLst/>
              <a:gdLst/>
              <a:ahLst/>
              <a:cxnLst/>
              <a:rect l="l" t="t" r="r" b="b"/>
              <a:pathLst>
                <a:path w="4274726" h="1796294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771967"/>
                  </a:lnTo>
                  <a:cubicBezTo>
                    <a:pt x="4274726" y="1778419"/>
                    <a:pt x="4272163" y="1784606"/>
                    <a:pt x="4267601" y="1789169"/>
                  </a:cubicBezTo>
                  <a:cubicBezTo>
                    <a:pt x="4263039" y="1793731"/>
                    <a:pt x="4256851" y="1796294"/>
                    <a:pt x="4250399" y="1796294"/>
                  </a:cubicBezTo>
                  <a:lnTo>
                    <a:pt x="24327" y="1796294"/>
                  </a:lnTo>
                  <a:cubicBezTo>
                    <a:pt x="10891" y="1796294"/>
                    <a:pt x="0" y="1785402"/>
                    <a:pt x="0" y="1771967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18343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-292228" y="9258300"/>
            <a:ext cx="20004189" cy="1104251"/>
            <a:chOff x="0" y="0"/>
            <a:chExt cx="5268593" cy="2908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8593" cy="290832"/>
            </a:xfrm>
            <a:custGeom>
              <a:avLst/>
              <a:gdLst/>
              <a:ahLst/>
              <a:cxnLst/>
              <a:rect l="l" t="t" r="r" b="b"/>
              <a:pathLst>
                <a:path w="5268593" h="290832">
                  <a:moveTo>
                    <a:pt x="0" y="0"/>
                  </a:moveTo>
                  <a:lnTo>
                    <a:pt x="5268593" y="0"/>
                  </a:lnTo>
                  <a:lnTo>
                    <a:pt x="5268593" y="290832"/>
                  </a:lnTo>
                  <a:lnTo>
                    <a:pt x="0" y="290832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268593" cy="328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355054" y="9524676"/>
            <a:ext cx="5577893" cy="53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Page 14</a:t>
            </a: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2970306" y="619030"/>
            <a:ext cx="12347388" cy="1996075"/>
            <a:chOff x="0" y="0"/>
            <a:chExt cx="3251987" cy="525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51987" cy="525715"/>
            </a:xfrm>
            <a:custGeom>
              <a:avLst/>
              <a:gdLst/>
              <a:ahLst/>
              <a:cxnLst/>
              <a:rect l="l" t="t" r="r" b="b"/>
              <a:pathLst>
                <a:path w="3251987" h="525715">
                  <a:moveTo>
                    <a:pt x="31977" y="0"/>
                  </a:moveTo>
                  <a:lnTo>
                    <a:pt x="3220009" y="0"/>
                  </a:lnTo>
                  <a:cubicBezTo>
                    <a:pt x="3228490" y="0"/>
                    <a:pt x="3236624" y="3369"/>
                    <a:pt x="3242621" y="9366"/>
                  </a:cubicBezTo>
                  <a:cubicBezTo>
                    <a:pt x="3248618" y="15363"/>
                    <a:pt x="3251987" y="23496"/>
                    <a:pt x="3251987" y="31977"/>
                  </a:cubicBezTo>
                  <a:lnTo>
                    <a:pt x="3251987" y="493738"/>
                  </a:lnTo>
                  <a:cubicBezTo>
                    <a:pt x="3251987" y="502219"/>
                    <a:pt x="3248618" y="510352"/>
                    <a:pt x="3242621" y="516349"/>
                  </a:cubicBezTo>
                  <a:cubicBezTo>
                    <a:pt x="3236624" y="522346"/>
                    <a:pt x="3228490" y="525715"/>
                    <a:pt x="3220009" y="525715"/>
                  </a:cubicBezTo>
                  <a:lnTo>
                    <a:pt x="31977" y="525715"/>
                  </a:lnTo>
                  <a:cubicBezTo>
                    <a:pt x="23496" y="525715"/>
                    <a:pt x="15363" y="522346"/>
                    <a:pt x="9366" y="516349"/>
                  </a:cubicBezTo>
                  <a:cubicBezTo>
                    <a:pt x="3369" y="510352"/>
                    <a:pt x="0" y="502219"/>
                    <a:pt x="0" y="493738"/>
                  </a:cubicBezTo>
                  <a:lnTo>
                    <a:pt x="0" y="31977"/>
                  </a:lnTo>
                  <a:cubicBezTo>
                    <a:pt x="0" y="23496"/>
                    <a:pt x="3369" y="15363"/>
                    <a:pt x="9366" y="9366"/>
                  </a:cubicBezTo>
                  <a:cubicBezTo>
                    <a:pt x="15363" y="3369"/>
                    <a:pt x="23496" y="0"/>
                    <a:pt x="31977" y="0"/>
                  </a:cubicBez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251987" cy="563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124075" y="3232785"/>
            <a:ext cx="14039850" cy="52451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We have successfully developed a web platform for buying and selling second-hand mobile phones.</a:t>
            </a:r>
            <a:endParaRPr lang="en-US" alt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The trained model generated a formula that accurately predicts fair resale prices for listed devices.</a:t>
            </a:r>
            <a:endParaRPr lang="en-US" alt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Overall, the project met all its objectives and provides a strong foundation for future enhancement and scalability.</a:t>
            </a:r>
            <a:endParaRPr lang="en-US" alt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543721" y="904875"/>
            <a:ext cx="9200557" cy="1186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5">
                <a:solidFill>
                  <a:srgbClr val="000000"/>
                </a:solidFill>
                <a:latin typeface="Fredoka" panose="02000000000000000000"/>
                <a:ea typeface="Fredoka" panose="02000000000000000000"/>
                <a:cs typeface="Fredoka" panose="02000000000000000000"/>
                <a:sym typeface="Fredoka" panose="02000000000000000000"/>
              </a:rPr>
              <a:t>CONCLUSION </a:t>
            </a:r>
            <a:endParaRPr lang="en-US" sz="6605">
              <a:solidFill>
                <a:srgbClr val="000000"/>
              </a:solidFill>
              <a:latin typeface="Fredoka" panose="02000000000000000000"/>
              <a:ea typeface="Fredoka" panose="02000000000000000000"/>
              <a:cs typeface="Fredoka" panose="02000000000000000000"/>
              <a:sym typeface="Fredoka" panose="02000000000000000000"/>
            </a:endParaRPr>
          </a:p>
        </p:txBody>
      </p:sp>
      <p:sp>
        <p:nvSpPr>
          <p:cNvPr id="14" name="Freeform 14"/>
          <p:cNvSpPr/>
          <p:nvPr/>
        </p:nvSpPr>
        <p:spPr>
          <a:xfrm rot="4302480">
            <a:off x="16435990" y="335858"/>
            <a:ext cx="2722598" cy="2788509"/>
          </a:xfrm>
          <a:custGeom>
            <a:avLst/>
            <a:gdLst/>
            <a:ahLst/>
            <a:cxnLst/>
            <a:rect l="l" t="t" r="r" b="b"/>
            <a:pathLst>
              <a:path w="2722598" h="2788509">
                <a:moveTo>
                  <a:pt x="0" y="0"/>
                </a:moveTo>
                <a:lnTo>
                  <a:pt x="2722599" y="0"/>
                </a:lnTo>
                <a:lnTo>
                  <a:pt x="2722599" y="2788508"/>
                </a:lnTo>
                <a:lnTo>
                  <a:pt x="0" y="278850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919996"/>
            <a:ext cx="16230600" cy="6820302"/>
            <a:chOff x="0" y="0"/>
            <a:chExt cx="4274726" cy="17962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796294"/>
            </a:xfrm>
            <a:custGeom>
              <a:avLst/>
              <a:gdLst/>
              <a:ahLst/>
              <a:cxnLst/>
              <a:rect l="l" t="t" r="r" b="b"/>
              <a:pathLst>
                <a:path w="4274726" h="1796294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771967"/>
                  </a:lnTo>
                  <a:cubicBezTo>
                    <a:pt x="4274726" y="1778419"/>
                    <a:pt x="4272163" y="1784606"/>
                    <a:pt x="4267601" y="1789169"/>
                  </a:cubicBezTo>
                  <a:cubicBezTo>
                    <a:pt x="4263039" y="1793731"/>
                    <a:pt x="4256851" y="1796294"/>
                    <a:pt x="4250399" y="1796294"/>
                  </a:cubicBezTo>
                  <a:lnTo>
                    <a:pt x="24327" y="1796294"/>
                  </a:lnTo>
                  <a:cubicBezTo>
                    <a:pt x="10891" y="1796294"/>
                    <a:pt x="0" y="1785402"/>
                    <a:pt x="0" y="1771967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18343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-292228" y="9258300"/>
            <a:ext cx="20004189" cy="1104251"/>
            <a:chOff x="0" y="0"/>
            <a:chExt cx="5268593" cy="2908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8593" cy="290832"/>
            </a:xfrm>
            <a:custGeom>
              <a:avLst/>
              <a:gdLst/>
              <a:ahLst/>
              <a:cxnLst/>
              <a:rect l="l" t="t" r="r" b="b"/>
              <a:pathLst>
                <a:path w="5268593" h="290832">
                  <a:moveTo>
                    <a:pt x="0" y="0"/>
                  </a:moveTo>
                  <a:lnTo>
                    <a:pt x="5268593" y="0"/>
                  </a:lnTo>
                  <a:lnTo>
                    <a:pt x="5268593" y="290832"/>
                  </a:lnTo>
                  <a:lnTo>
                    <a:pt x="0" y="290832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268593" cy="328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355054" y="9524676"/>
            <a:ext cx="5577893" cy="53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Page 15</a:t>
            </a:r>
            <a:endParaRPr 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2970306" y="619030"/>
            <a:ext cx="12347388" cy="1996075"/>
            <a:chOff x="0" y="0"/>
            <a:chExt cx="3251987" cy="525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51987" cy="525715"/>
            </a:xfrm>
            <a:custGeom>
              <a:avLst/>
              <a:gdLst/>
              <a:ahLst/>
              <a:cxnLst/>
              <a:rect l="l" t="t" r="r" b="b"/>
              <a:pathLst>
                <a:path w="3251987" h="525715">
                  <a:moveTo>
                    <a:pt x="31977" y="0"/>
                  </a:moveTo>
                  <a:lnTo>
                    <a:pt x="3220009" y="0"/>
                  </a:lnTo>
                  <a:cubicBezTo>
                    <a:pt x="3228490" y="0"/>
                    <a:pt x="3236624" y="3369"/>
                    <a:pt x="3242621" y="9366"/>
                  </a:cubicBezTo>
                  <a:cubicBezTo>
                    <a:pt x="3248618" y="15363"/>
                    <a:pt x="3251987" y="23496"/>
                    <a:pt x="3251987" y="31977"/>
                  </a:cubicBezTo>
                  <a:lnTo>
                    <a:pt x="3251987" y="493738"/>
                  </a:lnTo>
                  <a:cubicBezTo>
                    <a:pt x="3251987" y="502219"/>
                    <a:pt x="3248618" y="510352"/>
                    <a:pt x="3242621" y="516349"/>
                  </a:cubicBezTo>
                  <a:cubicBezTo>
                    <a:pt x="3236624" y="522346"/>
                    <a:pt x="3228490" y="525715"/>
                    <a:pt x="3220009" y="525715"/>
                  </a:cubicBezTo>
                  <a:lnTo>
                    <a:pt x="31977" y="525715"/>
                  </a:lnTo>
                  <a:cubicBezTo>
                    <a:pt x="23496" y="525715"/>
                    <a:pt x="15363" y="522346"/>
                    <a:pt x="9366" y="516349"/>
                  </a:cubicBezTo>
                  <a:cubicBezTo>
                    <a:pt x="3369" y="510352"/>
                    <a:pt x="0" y="502219"/>
                    <a:pt x="0" y="493738"/>
                  </a:cubicBezTo>
                  <a:lnTo>
                    <a:pt x="0" y="31977"/>
                  </a:lnTo>
                  <a:cubicBezTo>
                    <a:pt x="0" y="23496"/>
                    <a:pt x="3369" y="15363"/>
                    <a:pt x="9366" y="9366"/>
                  </a:cubicBezTo>
                  <a:cubicBezTo>
                    <a:pt x="15363" y="3369"/>
                    <a:pt x="23496" y="0"/>
                    <a:pt x="31977" y="0"/>
                  </a:cubicBez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251987" cy="563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124126" y="3232827"/>
            <a:ext cx="14039749" cy="161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alt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Collect larger dataset for improved model accuracy.  </a:t>
            </a:r>
            <a:endParaRPr lang="en-US" alt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marL="457200" indent="-457200" algn="l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US" alt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  <a:p>
            <a:pPr marL="457200" indent="-457200" algn="l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altLang="en-US" sz="3000">
                <a:solidFill>
                  <a:srgbClr val="000000"/>
                </a:solidFill>
                <a:latin typeface="Nunito" panose="00000500000000000000"/>
                <a:ea typeface="Nunito" panose="00000500000000000000"/>
                <a:cs typeface="Nunito" panose="00000500000000000000"/>
                <a:sym typeface="Nunito" panose="00000500000000000000"/>
              </a:rPr>
              <a:t>Extend to other mobile brands.</a:t>
            </a:r>
            <a:endParaRPr lang="en-US" altLang="en-US" sz="3000">
              <a:solidFill>
                <a:srgbClr val="000000"/>
              </a:solidFill>
              <a:latin typeface="Nunito" panose="00000500000000000000"/>
              <a:ea typeface="Nunito" panose="00000500000000000000"/>
              <a:cs typeface="Nunito" panose="00000500000000000000"/>
              <a:sym typeface="Nunito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543721" y="904875"/>
            <a:ext cx="9200557" cy="1186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5">
                <a:solidFill>
                  <a:srgbClr val="000000"/>
                </a:solidFill>
                <a:latin typeface="Fredoka" panose="02000000000000000000"/>
                <a:ea typeface="Fredoka" panose="02000000000000000000"/>
                <a:cs typeface="Fredoka" panose="02000000000000000000"/>
                <a:sym typeface="Fredoka" panose="02000000000000000000"/>
              </a:rPr>
              <a:t>FUTURE WORK</a:t>
            </a:r>
            <a:endParaRPr lang="en-US" sz="6605">
              <a:solidFill>
                <a:srgbClr val="000000"/>
              </a:solidFill>
              <a:latin typeface="Fredoka" panose="02000000000000000000"/>
              <a:ea typeface="Fredoka" panose="02000000000000000000"/>
              <a:cs typeface="Fredoka" panose="02000000000000000000"/>
              <a:sym typeface="Fredoka" panose="02000000000000000000"/>
            </a:endParaRPr>
          </a:p>
        </p:txBody>
      </p:sp>
      <p:sp>
        <p:nvSpPr>
          <p:cNvPr id="14" name="Freeform 14"/>
          <p:cNvSpPr/>
          <p:nvPr/>
        </p:nvSpPr>
        <p:spPr>
          <a:xfrm rot="4302480">
            <a:off x="16435990" y="335858"/>
            <a:ext cx="2722598" cy="2788509"/>
          </a:xfrm>
          <a:custGeom>
            <a:avLst/>
            <a:gdLst/>
            <a:ahLst/>
            <a:cxnLst/>
            <a:rect l="l" t="t" r="r" b="b"/>
            <a:pathLst>
              <a:path w="2722598" h="2788509">
                <a:moveTo>
                  <a:pt x="0" y="0"/>
                </a:moveTo>
                <a:lnTo>
                  <a:pt x="2722599" y="0"/>
                </a:lnTo>
                <a:lnTo>
                  <a:pt x="2722599" y="2788508"/>
                </a:lnTo>
                <a:lnTo>
                  <a:pt x="0" y="278850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2426390" y="715288"/>
            <a:ext cx="4017541" cy="4114800"/>
          </a:xfrm>
          <a:custGeom>
            <a:avLst/>
            <a:gdLst/>
            <a:ahLst/>
            <a:cxnLst/>
            <a:rect l="l" t="t" r="r" b="b"/>
            <a:pathLst>
              <a:path w="4017541" h="4114800">
                <a:moveTo>
                  <a:pt x="4017541" y="0"/>
                </a:moveTo>
                <a:lnTo>
                  <a:pt x="0" y="0"/>
                </a:lnTo>
                <a:lnTo>
                  <a:pt x="0" y="4114800"/>
                </a:lnTo>
                <a:lnTo>
                  <a:pt x="4017541" y="4114800"/>
                </a:lnTo>
                <a:lnTo>
                  <a:pt x="4017541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269473" y="4268217"/>
            <a:ext cx="11749054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Fredoka" panose="02000000000000000000"/>
                <a:ea typeface="Fredoka" panose="02000000000000000000"/>
                <a:cs typeface="Fredoka" panose="02000000000000000000"/>
                <a:sym typeface="Fredoka" panose="02000000000000000000"/>
              </a:rPr>
              <a:t>THANK YOU</a:t>
            </a:r>
            <a:endParaRPr lang="en-US" sz="12000">
              <a:solidFill>
                <a:srgbClr val="000000"/>
              </a:solidFill>
              <a:latin typeface="Fredoka" panose="02000000000000000000"/>
              <a:ea typeface="Fredoka" panose="02000000000000000000"/>
              <a:cs typeface="Fredoka" panose="02000000000000000000"/>
              <a:sym typeface="Fredoka" panose="02000000000000000000"/>
            </a:endParaRPr>
          </a:p>
        </p:txBody>
      </p:sp>
      <p:sp>
        <p:nvSpPr>
          <p:cNvPr id="4" name="Freeform 4"/>
          <p:cNvSpPr/>
          <p:nvPr/>
        </p:nvSpPr>
        <p:spPr>
          <a:xfrm flipH="1">
            <a:off x="2867498" y="2101187"/>
            <a:ext cx="2244689" cy="1032557"/>
          </a:xfrm>
          <a:custGeom>
            <a:avLst/>
            <a:gdLst/>
            <a:ahLst/>
            <a:cxnLst/>
            <a:rect l="l" t="t" r="r" b="b"/>
            <a:pathLst>
              <a:path w="2244689" h="1032557">
                <a:moveTo>
                  <a:pt x="2244689" y="0"/>
                </a:moveTo>
                <a:lnTo>
                  <a:pt x="0" y="0"/>
                </a:lnTo>
                <a:lnTo>
                  <a:pt x="0" y="1032557"/>
                </a:lnTo>
                <a:lnTo>
                  <a:pt x="2244689" y="1032557"/>
                </a:lnTo>
                <a:lnTo>
                  <a:pt x="224468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26560" y="7180347"/>
            <a:ext cx="2963893" cy="361056"/>
          </a:xfrm>
          <a:custGeom>
            <a:avLst/>
            <a:gdLst/>
            <a:ahLst/>
            <a:cxnLst/>
            <a:rect l="l" t="t" r="r" b="b"/>
            <a:pathLst>
              <a:path w="2963893" h="361056">
                <a:moveTo>
                  <a:pt x="0" y="0"/>
                </a:moveTo>
                <a:lnTo>
                  <a:pt x="2963893" y="0"/>
                </a:lnTo>
                <a:lnTo>
                  <a:pt x="2963893" y="361056"/>
                </a:lnTo>
                <a:lnTo>
                  <a:pt x="0" y="3610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041531" y="6335142"/>
            <a:ext cx="1629549" cy="749592"/>
          </a:xfrm>
          <a:custGeom>
            <a:avLst/>
            <a:gdLst/>
            <a:ahLst/>
            <a:cxnLst/>
            <a:rect l="l" t="t" r="r" b="b"/>
            <a:pathLst>
              <a:path w="1629549" h="749592">
                <a:moveTo>
                  <a:pt x="0" y="0"/>
                </a:moveTo>
                <a:lnTo>
                  <a:pt x="1629548" y="0"/>
                </a:lnTo>
                <a:lnTo>
                  <a:pt x="1629548" y="749593"/>
                </a:lnTo>
                <a:lnTo>
                  <a:pt x="0" y="7495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1118*178"/>
  <p:tag name="TABLE_ENDDRAG_RECT" val="168*477*1118*178"/>
</p:tagLst>
</file>

<file path=ppt/tags/tag2.xml><?xml version="1.0" encoding="utf-8"?>
<p:tagLst xmlns:p="http://schemas.openxmlformats.org/presentationml/2006/main">
  <p:tag name="TABLE_ENDDRAG_ORIGIN_RECT" val="1007*164"/>
  <p:tag name="TABLE_ENDDRAG_RECT" val="210*491*1007*16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3154</Words>
  <Application>WPS Presentation</Application>
  <PresentationFormat>On-screen Show (4:3)</PresentationFormat>
  <Paragraphs>269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3" baseType="lpstr">
      <vt:lpstr>Arial</vt:lpstr>
      <vt:lpstr>SimSun</vt:lpstr>
      <vt:lpstr>Wingdings</vt:lpstr>
      <vt:lpstr>Fredoka</vt:lpstr>
      <vt:lpstr>Nunito Bold</vt:lpstr>
      <vt:lpstr>Canva Sans Bold</vt:lpstr>
      <vt:lpstr>Nunito</vt:lpstr>
      <vt:lpstr>Red Hat Display Bold</vt:lpstr>
      <vt:lpstr>Arial</vt:lpstr>
      <vt:lpstr>Microsoft YaHei</vt:lpstr>
      <vt:lpstr>Arial Unicode MS</vt:lpstr>
      <vt:lpstr>Calibri</vt:lpstr>
      <vt:lpstr>Times New Roman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Gandaki College of Engineering and Science</dc:title>
  <dc:creator/>
  <cp:lastModifiedBy>Kabita Adhikari</cp:lastModifiedBy>
  <cp:revision>18</cp:revision>
  <dcterms:created xsi:type="dcterms:W3CDTF">2006-08-16T00:00:00Z</dcterms:created>
  <dcterms:modified xsi:type="dcterms:W3CDTF">2025-11-08T18:51:15Z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E595951953D94AABAE0EEBC94104A626_12</vt:lpwstr>
  </property>
  <property fmtid="{D5CDD505-2E9C-101B-9397-08002B2CF9AE}" pid="3" name="KSOProductBuildVer">
    <vt:lpwstr>1033-12.2.0.23155</vt:lpwstr>
  </property>
</Properties>
</file>
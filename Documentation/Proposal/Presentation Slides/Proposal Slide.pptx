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 Bold" panose="020B0803030501040103" pitchFamily="34" charset="0"/>
      <p:regular r:id="rId16"/>
      <p:bold r:id="rId17"/>
    </p:embeddedFont>
    <p:embeddedFont>
      <p:font typeface="Fredoka" panose="02000000000000000000" pitchFamily="2" charset="77"/>
      <p:regular r:id="rId18"/>
    </p:embeddedFont>
    <p:embeddedFont>
      <p:font typeface="Nunito" pitchFamily="2" charset="77"/>
      <p:regular r:id="rId19"/>
    </p:embeddedFont>
    <p:embeddedFont>
      <p:font typeface="Nunito Bold" pitchFamily="2" charset="77"/>
      <p:regular r:id="rId20"/>
      <p:bold r:id="rId21"/>
    </p:embeddedFont>
    <p:embeddedFont>
      <p:font typeface="Red Hat Display Bold" panose="02010803040201060303" pitchFamily="2" charset="7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660" autoAdjust="0"/>
  </p:normalViewPr>
  <p:slideViewPr>
    <p:cSldViewPr>
      <p:cViewPr varScale="1">
        <p:scale>
          <a:sx n="82" d="100"/>
          <a:sy n="82" d="100"/>
        </p:scale>
        <p:origin x="2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86477" y="5916272"/>
            <a:ext cx="3532892" cy="1625130"/>
          </a:xfrm>
          <a:custGeom>
            <a:avLst/>
            <a:gdLst/>
            <a:ahLst/>
            <a:cxnLst/>
            <a:rect l="l" t="t" r="r" b="b"/>
            <a:pathLst>
              <a:path w="3532892" h="1625130">
                <a:moveTo>
                  <a:pt x="0" y="0"/>
                </a:moveTo>
                <a:lnTo>
                  <a:pt x="3532892" y="0"/>
                </a:lnTo>
                <a:lnTo>
                  <a:pt x="3532892" y="1625131"/>
                </a:lnTo>
                <a:lnTo>
                  <a:pt x="0" y="1625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436" y="1076344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0" y="0"/>
                </a:moveTo>
                <a:lnTo>
                  <a:pt x="4017541" y="0"/>
                </a:lnTo>
                <a:lnTo>
                  <a:pt x="4017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95407" y="715288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8631" y="2763330"/>
            <a:ext cx="1495073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SMARTRESELL– A MARKETPLACE FOR SECOND-HAND MOBILE PHONES WITH AI-DRIVEN PRICE SUGGESTION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90453" y="6505750"/>
            <a:ext cx="9907094" cy="281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4"/>
              </a:lnSpc>
            </a:pPr>
            <a:r>
              <a:rPr lang="en-US" sz="400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Presentation by </a:t>
            </a:r>
          </a:p>
          <a:p>
            <a:pPr algn="ctr">
              <a:lnSpc>
                <a:spcPts val="5604"/>
              </a:lnSpc>
            </a:pPr>
            <a:r>
              <a:rPr lang="en-US" sz="400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Bhawana KC</a:t>
            </a:r>
          </a:p>
          <a:p>
            <a:pPr algn="ctr">
              <a:lnSpc>
                <a:spcPts val="5604"/>
              </a:lnSpc>
            </a:pPr>
            <a:r>
              <a:rPr lang="en-US" sz="400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Kabita Adhikari</a:t>
            </a:r>
          </a:p>
          <a:p>
            <a:pPr algn="ctr">
              <a:lnSpc>
                <a:spcPts val="5604"/>
              </a:lnSpc>
            </a:pPr>
            <a:r>
              <a:rPr lang="en-US" sz="400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Prasamsha Tripathi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7952847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895816"/>
            <a:chOff x="0" y="0"/>
            <a:chExt cx="4816593" cy="2359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35935"/>
            </a:xfrm>
            <a:custGeom>
              <a:avLst/>
              <a:gdLst/>
              <a:ahLst/>
              <a:cxnLst/>
              <a:rect l="l" t="t" r="r" b="b"/>
              <a:pathLst>
                <a:path w="4816592" h="235935">
                  <a:moveTo>
                    <a:pt x="0" y="0"/>
                  </a:moveTo>
                  <a:lnTo>
                    <a:pt x="4816592" y="0"/>
                  </a:lnTo>
                  <a:lnTo>
                    <a:pt x="4816592" y="235935"/>
                  </a:lnTo>
                  <a:lnTo>
                    <a:pt x="0" y="235935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16593" cy="283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Gandaki College of Engineering and Science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210900" y="200938"/>
            <a:ext cx="281693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May,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86477" y="5916272"/>
            <a:ext cx="3532892" cy="1625130"/>
          </a:xfrm>
          <a:custGeom>
            <a:avLst/>
            <a:gdLst/>
            <a:ahLst/>
            <a:cxnLst/>
            <a:rect l="l" t="t" r="r" b="b"/>
            <a:pathLst>
              <a:path w="3532892" h="1625130">
                <a:moveTo>
                  <a:pt x="0" y="0"/>
                </a:moveTo>
                <a:lnTo>
                  <a:pt x="3532892" y="0"/>
                </a:lnTo>
                <a:lnTo>
                  <a:pt x="3532892" y="1625131"/>
                </a:lnTo>
                <a:lnTo>
                  <a:pt x="0" y="1625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436" y="1076344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0" y="0"/>
                </a:moveTo>
                <a:lnTo>
                  <a:pt x="4017541" y="0"/>
                </a:lnTo>
                <a:lnTo>
                  <a:pt x="4017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95407" y="715288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0567" y="8538483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26228" y="2099661"/>
            <a:ext cx="5579418" cy="12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OVERVIEW</a:t>
            </a:r>
          </a:p>
        </p:txBody>
      </p:sp>
      <p:sp>
        <p:nvSpPr>
          <p:cNvPr id="7" name="AutoShape 7"/>
          <p:cNvSpPr/>
          <p:nvPr/>
        </p:nvSpPr>
        <p:spPr>
          <a:xfrm>
            <a:off x="1924092" y="4633912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7439063" y="4643438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924092" y="5811476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7435644" y="5751194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924092" y="6888753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7432225" y="6813505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924092" y="7947933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7439063" y="7918405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924092" y="4113574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84565" y="5162528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Excepted Outcomes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24092" y="5349853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Problem 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35644" y="5310187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 Case Diagram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4472" y="4203383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56024" y="4257402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44472" y="5454015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2605" y="5319712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24092" y="6372498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Objectives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39063" y="6372498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ER Diagram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44472" y="6382023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2605" y="6382023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24092" y="7431678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Literature Review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39063" y="7431678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Methodology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44472" y="7494226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2605" y="7383101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08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2584565" y="5697197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2515556" y="6823030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7439063" y="4203383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Required Tools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535935" y="5225076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84565" y="6266453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Work Plan and Timeline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498471" y="6300744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11</a:t>
            </a:r>
          </a:p>
        </p:txBody>
      </p:sp>
      <p:sp>
        <p:nvSpPr>
          <p:cNvPr id="37" name="AutoShape 37"/>
          <p:cNvSpPr/>
          <p:nvPr/>
        </p:nvSpPr>
        <p:spPr>
          <a:xfrm>
            <a:off x="12478092" y="4633912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38"/>
          <p:cNvSpPr txBox="1"/>
          <p:nvPr/>
        </p:nvSpPr>
        <p:spPr>
          <a:xfrm>
            <a:off x="12515556" y="4060552"/>
            <a:ext cx="431009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Price Prediction Workflow</a:t>
            </a:r>
          </a:p>
          <a:p>
            <a:pPr algn="l">
              <a:lnSpc>
                <a:spcPts val="3499"/>
              </a:lnSpc>
            </a:pPr>
            <a:endParaRPr lang="en-US" sz="2499" b="1" dirty="0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6498471" y="4131628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6310756"/>
            <a:chOff x="0" y="0"/>
            <a:chExt cx="4274726" cy="1662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662092"/>
            </a:xfrm>
            <a:custGeom>
              <a:avLst/>
              <a:gdLst/>
              <a:ahLst/>
              <a:cxnLst/>
              <a:rect l="l" t="t" r="r" b="b"/>
              <a:pathLst>
                <a:path w="4274726" h="166209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37765"/>
                  </a:lnTo>
                  <a:cubicBezTo>
                    <a:pt x="4274726" y="1644217"/>
                    <a:pt x="4272163" y="1650405"/>
                    <a:pt x="4267601" y="1654967"/>
                  </a:cubicBezTo>
                  <a:cubicBezTo>
                    <a:pt x="4263039" y="1659529"/>
                    <a:pt x="4256851" y="1662092"/>
                    <a:pt x="4250399" y="1662092"/>
                  </a:cubicBezTo>
                  <a:lnTo>
                    <a:pt x="24327" y="1662092"/>
                  </a:lnTo>
                  <a:cubicBezTo>
                    <a:pt x="10891" y="1662092"/>
                    <a:pt x="0" y="1651201"/>
                    <a:pt x="0" y="163776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0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55841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77763" y="95246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06482" y="2922723"/>
            <a:ext cx="14039749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smart, AI-powered online marketplace for buying and selling second-hand mobile phones with accurate price suggestions.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Why we need SmartResell?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AI-driven price suggestions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Trust badge system to increase credibility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Admin verifies listings, manages users for quality assurance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Sellers have guidance on market-based fair pricing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INTRODUCTION 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6310756"/>
            <a:chOff x="0" y="0"/>
            <a:chExt cx="4274726" cy="1662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662092"/>
            </a:xfrm>
            <a:custGeom>
              <a:avLst/>
              <a:gdLst/>
              <a:ahLst/>
              <a:cxnLst/>
              <a:rect l="l" t="t" r="r" b="b"/>
              <a:pathLst>
                <a:path w="4274726" h="166209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37765"/>
                  </a:lnTo>
                  <a:cubicBezTo>
                    <a:pt x="4274726" y="1644217"/>
                    <a:pt x="4272163" y="1650405"/>
                    <a:pt x="4267601" y="1654967"/>
                  </a:cubicBezTo>
                  <a:cubicBezTo>
                    <a:pt x="4263039" y="1659529"/>
                    <a:pt x="4256851" y="1662092"/>
                    <a:pt x="4250399" y="1662092"/>
                  </a:cubicBezTo>
                  <a:lnTo>
                    <a:pt x="24327" y="1662092"/>
                  </a:lnTo>
                  <a:cubicBezTo>
                    <a:pt x="10891" y="1662092"/>
                    <a:pt x="0" y="1651201"/>
                    <a:pt x="0" y="163776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0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55841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430901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Problems in Current Mobile Marketplaces: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smart tools for pricing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Prices often too high or low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Communication is slow and unclear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Buyers and sellers lose trust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977715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PROBLEM STATEMENT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36780" y="8011632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5758262"/>
            <a:chOff x="0" y="0"/>
            <a:chExt cx="4274726" cy="15165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516579"/>
            </a:xfrm>
            <a:custGeom>
              <a:avLst/>
              <a:gdLst/>
              <a:ahLst/>
              <a:cxnLst/>
              <a:rect l="l" t="t" r="r" b="b"/>
              <a:pathLst>
                <a:path w="4274726" h="1516579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92252"/>
                  </a:lnTo>
                  <a:cubicBezTo>
                    <a:pt x="4274726" y="1505688"/>
                    <a:pt x="4263834" y="1516579"/>
                    <a:pt x="4250399" y="1516579"/>
                  </a:cubicBezTo>
                  <a:lnTo>
                    <a:pt x="24327" y="1516579"/>
                  </a:lnTo>
                  <a:cubicBezTo>
                    <a:pt x="10891" y="1516579"/>
                    <a:pt x="0" y="1505688"/>
                    <a:pt x="0" y="149225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554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9965" y="9085852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352228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58982" y="3180230"/>
            <a:ext cx="15069137" cy="318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709" lvl="1" indent="-326855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Develop AI-powered price prediction system to guide sellers in setting fair prices for second-hand phones. </a:t>
            </a:r>
          </a:p>
          <a:p>
            <a:pPr algn="l">
              <a:lnSpc>
                <a:spcPts val="4238"/>
              </a:lnSpc>
            </a:pPr>
            <a:endParaRPr lang="en-US" sz="3027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53709" lvl="1" indent="-326855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Create a user-friendly web interface for listing and browsing phones. </a:t>
            </a:r>
          </a:p>
          <a:p>
            <a:pPr algn="l">
              <a:lnSpc>
                <a:spcPts val="4238"/>
              </a:lnSpc>
            </a:pPr>
            <a:endParaRPr lang="en-US" sz="3027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53709" lvl="1" indent="-326855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Provide smart suggestions to improve deal success rate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OBJECTIVE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36780" y="8011632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919996"/>
            <a:ext cx="16230600" cy="7099141"/>
            <a:chOff x="0" y="0"/>
            <a:chExt cx="4274726" cy="18697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69733"/>
            </a:xfrm>
            <a:custGeom>
              <a:avLst/>
              <a:gdLst/>
              <a:ahLst/>
              <a:cxnLst/>
              <a:rect l="l" t="t" r="r" b="b"/>
              <a:pathLst>
                <a:path w="4274726" h="186973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45406"/>
                  </a:lnTo>
                  <a:cubicBezTo>
                    <a:pt x="4274726" y="1851858"/>
                    <a:pt x="4272163" y="1858045"/>
                    <a:pt x="4267601" y="1862607"/>
                  </a:cubicBezTo>
                  <a:cubicBezTo>
                    <a:pt x="4263039" y="1867170"/>
                    <a:pt x="4256851" y="1869733"/>
                    <a:pt x="4250399" y="1869733"/>
                  </a:cubicBezTo>
                  <a:lnTo>
                    <a:pt x="24327" y="1869733"/>
                  </a:lnTo>
                  <a:cubicBezTo>
                    <a:pt x="10891" y="1869733"/>
                    <a:pt x="0" y="1858841"/>
                    <a:pt x="0" y="184540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907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55841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430901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42352"/>
            <a:ext cx="14039749" cy="513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HamroBazar</a:t>
            </a:r>
            <a:r>
              <a:rPr lang="en-US" sz="2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Does not have smart pricing, even though it's popular and offers “Buy Now, Pay Later.”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Swappa</a:t>
            </a:r>
            <a:r>
              <a:rPr lang="en-US" sz="2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Checks every product before selling, so buyers feel safe and trust the platform.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Cashify</a:t>
            </a:r>
            <a:r>
              <a:rPr lang="en-US" sz="2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Helps people sell old devices quickly with instant payment and sells them again after fixing.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OLX</a:t>
            </a:r>
            <a:r>
              <a:rPr lang="en-US" sz="2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Easy to use and free for everyone, but doesn’t check the quality of items.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Back Market</a:t>
            </a:r>
            <a:r>
              <a:rPr lang="en-US" sz="2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Sells repaired devices with warranties, but it’s still hard for users to know if prices are fair.</a:t>
            </a:r>
          </a:p>
          <a:p>
            <a:pPr algn="ctr">
              <a:lnSpc>
                <a:spcPts val="4200"/>
              </a:lnSpc>
            </a:pPr>
            <a:endParaRPr lang="en-US" sz="29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LITERATURE REVIEW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36950" y="8494002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5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following tools are used for development of this project: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frontend: HTML, CSS, JavaScript, Bootstrap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backend:  Django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Database:  MySQL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For UML diagrams and wireframes:  Draw.io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Machine Learning:  Python(Scikit-learn)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Web Scraping:  BeautifulSoup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Gantt chart:  MS-Excel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version control and collaboration:  Git and GitHub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coding:  Visual Studio Code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REQUIRED TOOLS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30112"/>
            <a:ext cx="16230600" cy="7452637"/>
            <a:chOff x="0" y="0"/>
            <a:chExt cx="4274726" cy="19628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962834"/>
            </a:xfrm>
            <a:custGeom>
              <a:avLst/>
              <a:gdLst/>
              <a:ahLst/>
              <a:cxnLst/>
              <a:rect l="l" t="t" r="r" b="b"/>
              <a:pathLst>
                <a:path w="4274726" h="196283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938507"/>
                  </a:lnTo>
                  <a:cubicBezTo>
                    <a:pt x="4274726" y="1951943"/>
                    <a:pt x="4263834" y="1962834"/>
                    <a:pt x="4250399" y="1962834"/>
                  </a:cubicBezTo>
                  <a:lnTo>
                    <a:pt x="24327" y="1962834"/>
                  </a:lnTo>
                  <a:cubicBezTo>
                    <a:pt x="10891" y="1962834"/>
                    <a:pt x="0" y="1951943"/>
                    <a:pt x="0" y="19385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000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33131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70136" y="-76080"/>
            <a:ext cx="12347388" cy="1557925"/>
            <a:chOff x="0" y="0"/>
            <a:chExt cx="3251987" cy="4103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51987" cy="410318"/>
            </a:xfrm>
            <a:custGeom>
              <a:avLst/>
              <a:gdLst/>
              <a:ahLst/>
              <a:cxnLst/>
              <a:rect l="l" t="t" r="r" b="b"/>
              <a:pathLst>
                <a:path w="3251987" h="410318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378340"/>
                  </a:lnTo>
                  <a:cubicBezTo>
                    <a:pt x="3251987" y="386821"/>
                    <a:pt x="3248618" y="394955"/>
                    <a:pt x="3242621" y="400952"/>
                  </a:cubicBezTo>
                  <a:cubicBezTo>
                    <a:pt x="3236624" y="406949"/>
                    <a:pt x="3228490" y="410318"/>
                    <a:pt x="3220009" y="410318"/>
                  </a:cubicBezTo>
                  <a:lnTo>
                    <a:pt x="31977" y="410318"/>
                  </a:lnTo>
                  <a:cubicBezTo>
                    <a:pt x="23496" y="410318"/>
                    <a:pt x="15363" y="406949"/>
                    <a:pt x="9366" y="400952"/>
                  </a:cubicBezTo>
                  <a:cubicBezTo>
                    <a:pt x="3369" y="394955"/>
                    <a:pt x="0" y="386821"/>
                    <a:pt x="0" y="378340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51987" cy="44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6840" y="8386383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1" y="0"/>
                </a:lnTo>
                <a:lnTo>
                  <a:pt x="3266711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355054" y="1730112"/>
            <a:ext cx="5721053" cy="6855244"/>
          </a:xfrm>
          <a:custGeom>
            <a:avLst/>
            <a:gdLst/>
            <a:ahLst/>
            <a:cxnLst/>
            <a:rect l="l" t="t" r="r" b="b"/>
            <a:pathLst>
              <a:path w="5721053" h="6855244">
                <a:moveTo>
                  <a:pt x="0" y="0"/>
                </a:moveTo>
                <a:lnTo>
                  <a:pt x="5721053" y="0"/>
                </a:lnTo>
                <a:lnTo>
                  <a:pt x="5721053" y="6855244"/>
                </a:lnTo>
                <a:lnTo>
                  <a:pt x="0" y="6855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78" r="-1075" b="-868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355054" y="9449124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43551" y="3042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USE CASE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6310756"/>
            <a:chOff x="0" y="0"/>
            <a:chExt cx="4274726" cy="1662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662092"/>
            </a:xfrm>
            <a:custGeom>
              <a:avLst/>
              <a:gdLst/>
              <a:ahLst/>
              <a:cxnLst/>
              <a:rect l="l" t="t" r="r" b="b"/>
              <a:pathLst>
                <a:path w="4274726" h="166209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37765"/>
                  </a:lnTo>
                  <a:cubicBezTo>
                    <a:pt x="4274726" y="1644217"/>
                    <a:pt x="4272163" y="1650405"/>
                    <a:pt x="4267601" y="1654967"/>
                  </a:cubicBezTo>
                  <a:cubicBezTo>
                    <a:pt x="4263039" y="1659529"/>
                    <a:pt x="4256851" y="1662092"/>
                    <a:pt x="4250399" y="1662092"/>
                  </a:cubicBezTo>
                  <a:lnTo>
                    <a:pt x="24327" y="1662092"/>
                  </a:lnTo>
                  <a:cubicBezTo>
                    <a:pt x="10891" y="1662092"/>
                    <a:pt x="0" y="1651201"/>
                    <a:pt x="0" y="163776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0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55841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70306" y="0"/>
            <a:ext cx="12347388" cy="1347111"/>
            <a:chOff x="0" y="0"/>
            <a:chExt cx="3251987" cy="3547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51987" cy="354795"/>
            </a:xfrm>
            <a:custGeom>
              <a:avLst/>
              <a:gdLst/>
              <a:ahLst/>
              <a:cxnLst/>
              <a:rect l="l" t="t" r="r" b="b"/>
              <a:pathLst>
                <a:path w="3251987" h="35479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322817"/>
                  </a:lnTo>
                  <a:cubicBezTo>
                    <a:pt x="3251987" y="331298"/>
                    <a:pt x="3248618" y="339432"/>
                    <a:pt x="3242621" y="345429"/>
                  </a:cubicBezTo>
                  <a:cubicBezTo>
                    <a:pt x="3236624" y="351426"/>
                    <a:pt x="3228490" y="354795"/>
                    <a:pt x="3220009" y="354795"/>
                  </a:cubicBezTo>
                  <a:lnTo>
                    <a:pt x="31977" y="354795"/>
                  </a:lnTo>
                  <a:cubicBezTo>
                    <a:pt x="23496" y="354795"/>
                    <a:pt x="15363" y="351426"/>
                    <a:pt x="9366" y="345429"/>
                  </a:cubicBezTo>
                  <a:cubicBezTo>
                    <a:pt x="3369" y="339432"/>
                    <a:pt x="0" y="331298"/>
                    <a:pt x="0" y="322817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51987" cy="392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36780" y="8011632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1560245"/>
            <a:ext cx="16370737" cy="7698055"/>
          </a:xfrm>
          <a:custGeom>
            <a:avLst/>
            <a:gdLst/>
            <a:ahLst/>
            <a:cxnLst/>
            <a:rect l="l" t="t" r="r" b="b"/>
            <a:pathLst>
              <a:path w="16370737" h="7698055">
                <a:moveTo>
                  <a:pt x="0" y="0"/>
                </a:moveTo>
                <a:lnTo>
                  <a:pt x="16370737" y="0"/>
                </a:lnTo>
                <a:lnTo>
                  <a:pt x="16370737" y="7698055"/>
                </a:lnTo>
                <a:lnTo>
                  <a:pt x="0" y="7698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834" b="-791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232345" y="9449124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3721" y="47858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ER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6965204"/>
            <a:chOff x="0" y="0"/>
            <a:chExt cx="4274726" cy="1834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34457"/>
            </a:xfrm>
            <a:custGeom>
              <a:avLst/>
              <a:gdLst/>
              <a:ahLst/>
              <a:cxnLst/>
              <a:rect l="l" t="t" r="r" b="b"/>
              <a:pathLst>
                <a:path w="4274726" h="183445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10130"/>
                  </a:lnTo>
                  <a:cubicBezTo>
                    <a:pt x="4274726" y="1823566"/>
                    <a:pt x="4263834" y="1834457"/>
                    <a:pt x="4250399" y="1834457"/>
                  </a:cubicBezTo>
                  <a:lnTo>
                    <a:pt x="24327" y="1834457"/>
                  </a:lnTo>
                  <a:cubicBezTo>
                    <a:pt x="10891" y="1834457"/>
                    <a:pt x="0" y="1823566"/>
                    <a:pt x="0" y="181013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72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78550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237410" y="94594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06482" y="3258352"/>
            <a:ext cx="14039749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Development Model: </a:t>
            </a: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Waterfall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Phases: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Requirement Analysis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System Design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Coding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Testing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Deployment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Maintenance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825794" y="904875"/>
            <a:ext cx="12491900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SYSTEM METHODOLOGY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36950" y="8195696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7262753"/>
            <a:chOff x="0" y="0"/>
            <a:chExt cx="4274726" cy="19128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912824"/>
            </a:xfrm>
            <a:custGeom>
              <a:avLst/>
              <a:gdLst/>
              <a:ahLst/>
              <a:cxnLst/>
              <a:rect l="l" t="t" r="r" b="b"/>
              <a:pathLst>
                <a:path w="4274726" h="191282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88497"/>
                  </a:lnTo>
                  <a:cubicBezTo>
                    <a:pt x="4274726" y="1894949"/>
                    <a:pt x="4272163" y="1901137"/>
                    <a:pt x="4267601" y="1905699"/>
                  </a:cubicBezTo>
                  <a:cubicBezTo>
                    <a:pt x="4263039" y="1910261"/>
                    <a:pt x="4256851" y="1912824"/>
                    <a:pt x="4250399" y="1912824"/>
                  </a:cubicBezTo>
                  <a:lnTo>
                    <a:pt x="24327" y="1912824"/>
                  </a:lnTo>
                  <a:cubicBezTo>
                    <a:pt x="10891" y="1912824"/>
                    <a:pt x="0" y="1901933"/>
                    <a:pt x="0" y="188849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950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55841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430901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9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37138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26380" y="2557955"/>
            <a:ext cx="14039749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Collection: Scrape market data (e.g., HamroBazar).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Preprocessing: Clean data, handle missing values.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Feature Engineering – Create predictive attributes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Training: Linear Regression 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Evaluation – Accuracy, F1, MAE, RMSE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Deployment: API integration for real-time predictions.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914400"/>
            <a:ext cx="16230600" cy="2156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0"/>
              </a:lnSpc>
            </a:pPr>
            <a:r>
              <a:rPr lang="en-US" sz="58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PRICE PREDICTION WORKFLOW</a:t>
            </a:r>
          </a:p>
          <a:p>
            <a:pPr algn="ctr">
              <a:lnSpc>
                <a:spcPts val="9250"/>
              </a:lnSpc>
            </a:pPr>
            <a:endParaRPr lang="en-US" sz="5807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36950" y="8541760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7108365"/>
            <a:chOff x="0" y="0"/>
            <a:chExt cx="4274726" cy="18721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72162"/>
            </a:xfrm>
            <a:custGeom>
              <a:avLst/>
              <a:gdLst/>
              <a:ahLst/>
              <a:cxnLst/>
              <a:rect l="l" t="t" r="r" b="b"/>
              <a:pathLst>
                <a:path w="4274726" h="187216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47835"/>
                  </a:lnTo>
                  <a:cubicBezTo>
                    <a:pt x="4274726" y="1854287"/>
                    <a:pt x="4272163" y="1860475"/>
                    <a:pt x="4267601" y="1865037"/>
                  </a:cubicBezTo>
                  <a:cubicBezTo>
                    <a:pt x="4263039" y="1869599"/>
                    <a:pt x="4256851" y="1872162"/>
                    <a:pt x="4250399" y="1872162"/>
                  </a:cubicBezTo>
                  <a:lnTo>
                    <a:pt x="24327" y="1872162"/>
                  </a:lnTo>
                  <a:cubicBezTo>
                    <a:pt x="10891" y="1872162"/>
                    <a:pt x="0" y="1861270"/>
                    <a:pt x="0" y="184783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910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55841" y="9298025"/>
            <a:ext cx="20004189" cy="1028700"/>
            <a:chOff x="0" y="0"/>
            <a:chExt cx="526859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70933"/>
            </a:xfrm>
            <a:custGeom>
              <a:avLst/>
              <a:gdLst/>
              <a:ahLst/>
              <a:cxnLst/>
              <a:rect l="l" t="t" r="r" b="b"/>
              <a:pathLst>
                <a:path w="5268593" h="270933">
                  <a:moveTo>
                    <a:pt x="0" y="0"/>
                  </a:moveTo>
                  <a:lnTo>
                    <a:pt x="5268593" y="0"/>
                  </a:lnTo>
                  <a:lnTo>
                    <a:pt x="526859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6625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10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User-friendly interface for easy buying &amp; selling.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Analyzes real market data to suggest fair prices.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Helps sellers avoid overpricing/underpricing.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Trust badges awarded to reliable sellers.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Admin monitors user activity, sales, and market trends.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10100424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EXCEPTED OUTCOMES</a:t>
            </a: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36950" y="8482017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9996"/>
            <a:ext cx="16230600" cy="7167978"/>
            <a:chOff x="0" y="0"/>
            <a:chExt cx="4274726" cy="1887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87862"/>
            </a:xfrm>
            <a:custGeom>
              <a:avLst/>
              <a:gdLst/>
              <a:ahLst/>
              <a:cxnLst/>
              <a:rect l="l" t="t" r="r" b="b"/>
              <a:pathLst>
                <a:path w="4274726" h="188786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63536"/>
                  </a:lnTo>
                  <a:cubicBezTo>
                    <a:pt x="4274726" y="1869988"/>
                    <a:pt x="4272163" y="1876175"/>
                    <a:pt x="4267601" y="1880737"/>
                  </a:cubicBezTo>
                  <a:cubicBezTo>
                    <a:pt x="4263039" y="1885299"/>
                    <a:pt x="4256851" y="1887862"/>
                    <a:pt x="4250399" y="1887862"/>
                  </a:cubicBezTo>
                  <a:lnTo>
                    <a:pt x="24327" y="1887862"/>
                  </a:lnTo>
                  <a:cubicBezTo>
                    <a:pt x="10891" y="1887862"/>
                    <a:pt x="0" y="1876971"/>
                    <a:pt x="0" y="186353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925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33131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24713" y="263999"/>
            <a:ext cx="12347388" cy="1294663"/>
            <a:chOff x="0" y="0"/>
            <a:chExt cx="3251987" cy="3409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51987" cy="340981"/>
            </a:xfrm>
            <a:custGeom>
              <a:avLst/>
              <a:gdLst/>
              <a:ahLst/>
              <a:cxnLst/>
              <a:rect l="l" t="t" r="r" b="b"/>
              <a:pathLst>
                <a:path w="3251987" h="340981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309004"/>
                  </a:lnTo>
                  <a:cubicBezTo>
                    <a:pt x="3251987" y="317485"/>
                    <a:pt x="3248618" y="325618"/>
                    <a:pt x="3242621" y="331615"/>
                  </a:cubicBezTo>
                  <a:cubicBezTo>
                    <a:pt x="3236624" y="337612"/>
                    <a:pt x="3228490" y="340981"/>
                    <a:pt x="3220009" y="340981"/>
                  </a:cubicBezTo>
                  <a:lnTo>
                    <a:pt x="31977" y="340981"/>
                  </a:lnTo>
                  <a:cubicBezTo>
                    <a:pt x="23496" y="340981"/>
                    <a:pt x="15363" y="337612"/>
                    <a:pt x="9366" y="331615"/>
                  </a:cubicBezTo>
                  <a:cubicBezTo>
                    <a:pt x="3369" y="325618"/>
                    <a:pt x="0" y="317485"/>
                    <a:pt x="0" y="309004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51987" cy="379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14697" y="8440520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1" y="0"/>
                </a:lnTo>
                <a:lnTo>
                  <a:pt x="3266711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948053" y="1730112"/>
            <a:ext cx="12391895" cy="6710408"/>
          </a:xfrm>
          <a:custGeom>
            <a:avLst/>
            <a:gdLst/>
            <a:ahLst/>
            <a:cxnLst/>
            <a:rect l="l" t="t" r="r" b="b"/>
            <a:pathLst>
              <a:path w="12391895" h="6710408">
                <a:moveTo>
                  <a:pt x="0" y="0"/>
                </a:moveTo>
                <a:lnTo>
                  <a:pt x="12391894" y="0"/>
                </a:lnTo>
                <a:lnTo>
                  <a:pt x="12391894" y="6710408"/>
                </a:lnTo>
                <a:lnTo>
                  <a:pt x="0" y="6710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2" r="-88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355054" y="95246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11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88330" y="403002"/>
            <a:ext cx="11620153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WORK PLAN AND TIMELINE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426390" y="715288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4017541" y="0"/>
                </a:moveTo>
                <a:lnTo>
                  <a:pt x="0" y="0"/>
                </a:lnTo>
                <a:lnTo>
                  <a:pt x="0" y="4114800"/>
                </a:lnTo>
                <a:lnTo>
                  <a:pt x="4017541" y="4114800"/>
                </a:lnTo>
                <a:lnTo>
                  <a:pt x="40175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69473" y="4268217"/>
            <a:ext cx="11749054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2867498" y="2101187"/>
            <a:ext cx="2244689" cy="1032557"/>
          </a:xfrm>
          <a:custGeom>
            <a:avLst/>
            <a:gdLst/>
            <a:ahLst/>
            <a:cxnLst/>
            <a:rect l="l" t="t" r="r" b="b"/>
            <a:pathLst>
              <a:path w="2244689" h="1032557">
                <a:moveTo>
                  <a:pt x="2244689" y="0"/>
                </a:moveTo>
                <a:lnTo>
                  <a:pt x="0" y="0"/>
                </a:lnTo>
                <a:lnTo>
                  <a:pt x="0" y="1032557"/>
                </a:lnTo>
                <a:lnTo>
                  <a:pt x="2244689" y="1032557"/>
                </a:lnTo>
                <a:lnTo>
                  <a:pt x="22446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6560" y="7180347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41531" y="6335142"/>
            <a:ext cx="1629549" cy="749592"/>
          </a:xfrm>
          <a:custGeom>
            <a:avLst/>
            <a:gdLst/>
            <a:ahLst/>
            <a:cxnLst/>
            <a:rect l="l" t="t" r="r" b="b"/>
            <a:pathLst>
              <a:path w="1629549" h="749592">
                <a:moveTo>
                  <a:pt x="0" y="0"/>
                </a:moveTo>
                <a:lnTo>
                  <a:pt x="1629548" y="0"/>
                </a:lnTo>
                <a:lnTo>
                  <a:pt x="1629548" y="749593"/>
                </a:lnTo>
                <a:lnTo>
                  <a:pt x="0" y="74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498</Words>
  <Application>Microsoft Macintosh PowerPoint</Application>
  <PresentationFormat>Custom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Nunito Bold</vt:lpstr>
      <vt:lpstr>Calibri</vt:lpstr>
      <vt:lpstr>Red Hat Display Bold</vt:lpstr>
      <vt:lpstr>Canva Sans Bold</vt:lpstr>
      <vt:lpstr>Fredoka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Gandaki College of Engineering and Science</dc:title>
  <cp:lastModifiedBy>Bhawana KC</cp:lastModifiedBy>
  <cp:revision>2</cp:revision>
  <dcterms:created xsi:type="dcterms:W3CDTF">2006-08-16T00:00:00Z</dcterms:created>
  <dcterms:modified xsi:type="dcterms:W3CDTF">2025-05-29T14:16:53Z</dcterms:modified>
  <dc:identifier>DAGoF3CBxRA</dc:identifier>
</cp:coreProperties>
</file>